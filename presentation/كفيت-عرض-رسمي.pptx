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IBM Plex Sans Arabic Medium"/>
      <p:regular r:id="rId20"/>
      <p:bold r:id="rId21"/>
    </p:embeddedFont>
    <p:embeddedFont>
      <p:font typeface="IBM Plex Sans Arabic"/>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BMPlexSansArabicMedium-regular.fntdata"/><Relationship Id="rId11" Type="http://schemas.openxmlformats.org/officeDocument/2006/relationships/slide" Target="slides/slide6.xml"/><Relationship Id="rId22" Type="http://schemas.openxmlformats.org/officeDocument/2006/relationships/font" Target="fonts/IBMPlexSansArabic-regular.fntdata"/><Relationship Id="rId10" Type="http://schemas.openxmlformats.org/officeDocument/2006/relationships/slide" Target="slides/slide5.xml"/><Relationship Id="rId21" Type="http://schemas.openxmlformats.org/officeDocument/2006/relationships/font" Target="fonts/IBMPlexSansArabicMedium-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IBMPlexSansArabic-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3ee3ec1fe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3ee3ec1fe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ee3ec1fe0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ee3ec1fe0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e3ec1fe0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e3ec1fe0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e3ec1fe0a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ee3ec1fe0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e3ec1fe0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ee3ec1fe0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e3ec1fe0a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e3ec1fe0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ee3ec1fe0a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ee3ec1fe0a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ee3ec1fe0a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ee3ec1fe0a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e3ec1fe0a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ee3ec1fe0a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ee3ec1fe0a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ee3ec1fe0a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ee3ec1fe0a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ee3ec1fe0a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ee3ec1fe0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ee3ec1fe0a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ee3ec1fe0a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ee3ec1fe0a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ee3ec1fe0a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ee3ec1fe0a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8" name="Google Shape;8;p2"/>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
        <p:nvSpPr>
          <p:cNvPr id="11" name="Google Shape;11;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4"/>
          <p:cNvSpPr txBox="1"/>
          <p:nvPr>
            <p:ph type="title"/>
          </p:nvPr>
        </p:nvSpPr>
        <p:spPr>
          <a:xfrm>
            <a:off x="3035200" y="1705250"/>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4" name="Google Shape;14;p4"/>
          <p:cNvSpPr txBox="1"/>
          <p:nvPr>
            <p:ph idx="1" type="body"/>
          </p:nvPr>
        </p:nvSpPr>
        <p:spPr>
          <a:xfrm>
            <a:off x="-1838425" y="-1302250"/>
            <a:ext cx="85206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5" name="Google Shape;15;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 name="Shape 16"/>
        <p:cNvGrpSpPr/>
        <p:nvPr/>
      </p:nvGrpSpPr>
      <p:grpSpPr>
        <a:xfrm>
          <a:off x="0" y="0"/>
          <a:ext cx="0" cy="0"/>
          <a:chOff x="0" y="0"/>
          <a:chExt cx="0" cy="0"/>
        </a:xfrm>
      </p:grpSpPr>
      <p:sp>
        <p:nvSpPr>
          <p:cNvPr id="17" name="Google Shape;17;p5"/>
          <p:cNvSpPr txBox="1"/>
          <p:nvPr>
            <p:ph type="title"/>
          </p:nvPr>
        </p:nvSpPr>
        <p:spPr>
          <a:xfrm>
            <a:off x="3035200" y="1705250"/>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8" name="Google Shape;18;p5"/>
          <p:cNvSpPr txBox="1"/>
          <p:nvPr>
            <p:ph idx="1" type="body"/>
          </p:nvPr>
        </p:nvSpPr>
        <p:spPr>
          <a:xfrm>
            <a:off x="3117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9" name="Google Shape;19;p5"/>
          <p:cNvSpPr txBox="1"/>
          <p:nvPr>
            <p:ph idx="2" type="body"/>
          </p:nvPr>
        </p:nvSpPr>
        <p:spPr>
          <a:xfrm>
            <a:off x="48324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 name="Google Shape;2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6"/>
          <p:cNvSpPr txBox="1"/>
          <p:nvPr>
            <p:ph type="title"/>
          </p:nvPr>
        </p:nvSpPr>
        <p:spPr>
          <a:xfrm>
            <a:off x="3035200" y="1705250"/>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3" name="Google Shape;2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 name="Shape 24"/>
        <p:cNvGrpSpPr/>
        <p:nvPr/>
      </p:nvGrpSpPr>
      <p:grpSpPr>
        <a:xfrm>
          <a:off x="0" y="0"/>
          <a:ext cx="0" cy="0"/>
          <a:chOff x="0" y="0"/>
          <a:chExt cx="0" cy="0"/>
        </a:xfrm>
      </p:grpSpPr>
      <p:sp>
        <p:nvSpPr>
          <p:cNvPr id="25" name="Google Shape;25;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26" name="Google Shape;26;p7"/>
          <p:cNvSpPr txBox="1"/>
          <p:nvPr>
            <p:ph idx="1" type="body"/>
          </p:nvPr>
        </p:nvSpPr>
        <p:spPr>
          <a:xfrm>
            <a:off x="311700" y="1389600"/>
            <a:ext cx="2808000" cy="31794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8" name="Shape 28"/>
        <p:cNvGrpSpPr/>
        <p:nvPr/>
      </p:nvGrpSpPr>
      <p:grpSpPr>
        <a:xfrm>
          <a:off x="0" y="0"/>
          <a:ext cx="0" cy="0"/>
          <a:chOff x="0" y="0"/>
          <a:chExt cx="0" cy="0"/>
        </a:xfrm>
      </p:grpSpPr>
      <p:sp>
        <p:nvSpPr>
          <p:cNvPr id="29" name="Google Shape;29;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
        <p:nvSpPr>
          <p:cNvPr id="30" name="Google Shape;30;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1" name="Shape 31"/>
        <p:cNvGrpSpPr/>
        <p:nvPr/>
      </p:nvGrpSpPr>
      <p:grpSpPr>
        <a:xfrm>
          <a:off x="0" y="0"/>
          <a:ext cx="0" cy="0"/>
          <a:chOff x="0" y="0"/>
          <a:chExt cx="0" cy="0"/>
        </a:xfrm>
      </p:grpSpPr>
      <p:sp>
        <p:nvSpPr>
          <p:cNvPr id="32" name="Google Shape;3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4" name="Google Shape;34;p9"/>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 name="Google Shape;35;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7" name="Shape 37"/>
        <p:cNvGrpSpPr/>
        <p:nvPr/>
      </p:nvGrpSpPr>
      <p:grpSpPr>
        <a:xfrm>
          <a:off x="0" y="0"/>
          <a:ext cx="0" cy="0"/>
          <a:chOff x="0" y="0"/>
          <a:chExt cx="0" cy="0"/>
        </a:xfrm>
      </p:grpSpPr>
      <p:sp>
        <p:nvSpPr>
          <p:cNvPr id="38" name="Google Shape;38;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400"/>
              <a:buNone/>
              <a:defRPr/>
            </a:lvl1pPr>
          </a:lstStyle>
          <a:p/>
        </p:txBody>
      </p:sp>
      <p:sp>
        <p:nvSpPr>
          <p:cNvPr id="39" name="Google Shape;39;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0" name="Shape 40"/>
        <p:cNvGrpSpPr/>
        <p:nvPr/>
      </p:nvGrpSpPr>
      <p:grpSpPr>
        <a:xfrm>
          <a:off x="0" y="0"/>
          <a:ext cx="0" cy="0"/>
          <a:chOff x="0" y="0"/>
          <a:chExt cx="0" cy="0"/>
        </a:xfrm>
      </p:grpSpPr>
      <p:sp>
        <p:nvSpPr>
          <p:cNvPr id="41" name="Google Shape;41;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42" name="Google Shape;42;p11"/>
          <p:cNvSpPr txBox="1"/>
          <p:nvPr>
            <p:ph idx="1" type="body"/>
          </p:nvPr>
        </p:nvSpPr>
        <p:spPr>
          <a:xfrm>
            <a:off x="311700" y="3152225"/>
            <a:ext cx="8520600" cy="1300800"/>
          </a:xfrm>
          <a:prstGeom prst="rect">
            <a:avLst/>
          </a:prstGeom>
          <a:noFill/>
          <a:ln>
            <a:noFill/>
          </a:ln>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3" name="Google Shape;4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6E7DC"/>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4.jpg"/><Relationship Id="rId6"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7.jpg"/><Relationship Id="rId6"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2.png"/><Relationship Id="rId90"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2.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 name="Shape 49"/>
        <p:cNvGrpSpPr/>
        <p:nvPr/>
      </p:nvGrpSpPr>
      <p:grpSpPr>
        <a:xfrm>
          <a:off x="0" y="0"/>
          <a:ext cx="0" cy="0"/>
          <a:chOff x="0" y="0"/>
          <a:chExt cx="0" cy="0"/>
        </a:xfrm>
      </p:grpSpPr>
      <p:sp>
        <p:nvSpPr>
          <p:cNvPr id="50" name="Google Shape;50;p13"/>
          <p:cNvSpPr txBox="1"/>
          <p:nvPr/>
        </p:nvSpPr>
        <p:spPr>
          <a:xfrm>
            <a:off x="863550" y="2547075"/>
            <a:ext cx="7416900" cy="536400"/>
          </a:xfrm>
          <a:prstGeom prst="rect">
            <a:avLst/>
          </a:prstGeom>
          <a:noFill/>
          <a:ln>
            <a:noFill/>
          </a:ln>
        </p:spPr>
        <p:txBody>
          <a:bodyPr anchorCtr="0" anchor="t" bIns="91425" lIns="91425" spcFirstLastPara="1" rIns="91425" wrap="square" tIns="91425">
            <a:noAutofit/>
          </a:bodyPr>
          <a:lstStyle/>
          <a:p>
            <a:pPr indent="0" lvl="0" marL="0" rtl="1" algn="ctr">
              <a:spcBef>
                <a:spcPts val="0"/>
              </a:spcBef>
              <a:spcAft>
                <a:spcPts val="0"/>
              </a:spcAft>
              <a:buNone/>
            </a:pPr>
            <a:r>
              <a:rPr b="1" lang="en" sz="3220">
                <a:solidFill>
                  <a:srgbClr val="F6E7DC"/>
                </a:solidFill>
                <a:latin typeface="IBM Plex Sans Arabic"/>
                <a:ea typeface="IBM Plex Sans Arabic"/>
                <a:cs typeface="IBM Plex Sans Arabic"/>
                <a:sym typeface="IBM Plex Sans Arabic"/>
              </a:rPr>
              <a:t>كَفيت</a:t>
            </a:r>
            <a:endParaRPr b="1" sz="3220">
              <a:solidFill>
                <a:srgbClr val="F6E7DC"/>
              </a:solidFill>
              <a:latin typeface="IBM Plex Sans Arabic"/>
              <a:ea typeface="IBM Plex Sans Arabic"/>
              <a:cs typeface="IBM Plex Sans Arabic"/>
              <a:sym typeface="IBM Plex Sans Arabic"/>
            </a:endParaRPr>
          </a:p>
        </p:txBody>
      </p:sp>
      <p:sp>
        <p:nvSpPr>
          <p:cNvPr id="51" name="Google Shape;51;p13"/>
          <p:cNvSpPr txBox="1"/>
          <p:nvPr/>
        </p:nvSpPr>
        <p:spPr>
          <a:xfrm>
            <a:off x="863550" y="3190975"/>
            <a:ext cx="7416900" cy="1500000"/>
          </a:xfrm>
          <a:prstGeom prst="rect">
            <a:avLst/>
          </a:prstGeom>
          <a:noFill/>
          <a:ln>
            <a:noFill/>
          </a:ln>
        </p:spPr>
        <p:txBody>
          <a:bodyPr anchorCtr="0" anchor="t" bIns="91425" lIns="91425" spcFirstLastPara="1" rIns="91425" wrap="square" tIns="91425">
            <a:normAutofit lnSpcReduction="20000"/>
          </a:bodyPr>
          <a:lstStyle/>
          <a:p>
            <a:pPr indent="0" lvl="0" marL="0" rtl="1" algn="ctr">
              <a:spcBef>
                <a:spcPts val="0"/>
              </a:spcBef>
              <a:spcAft>
                <a:spcPts val="0"/>
              </a:spcAft>
              <a:buNone/>
            </a:pPr>
            <a:r>
              <a:rPr lang="en" sz="2800">
                <a:solidFill>
                  <a:srgbClr val="F6E7DC"/>
                </a:solidFill>
                <a:latin typeface="IBM Plex Sans Arabic"/>
                <a:ea typeface="IBM Plex Sans Arabic"/>
                <a:cs typeface="IBM Plex Sans Arabic"/>
                <a:sym typeface="IBM Plex Sans Arabic"/>
              </a:rPr>
              <a:t>يُحجز مالك… ولا أحد يقول لك ليش.</a:t>
            </a:r>
            <a:endParaRPr sz="2800">
              <a:solidFill>
                <a:srgbClr val="F6E7DC"/>
              </a:solidFill>
              <a:latin typeface="IBM Plex Sans Arabic"/>
              <a:ea typeface="IBM Plex Sans Arabic"/>
              <a:cs typeface="IBM Plex Sans Arabic"/>
              <a:sym typeface="IBM Plex Sans Arabic"/>
            </a:endParaRPr>
          </a:p>
          <a:p>
            <a:pPr indent="0" lvl="0" marL="0" rtl="1" algn="ctr">
              <a:spcBef>
                <a:spcPts val="0"/>
              </a:spcBef>
              <a:spcAft>
                <a:spcPts val="0"/>
              </a:spcAft>
              <a:buNone/>
            </a:pPr>
            <a:r>
              <a:rPr lang="en" sz="1500">
                <a:solidFill>
                  <a:srgbClr val="F6E7DC"/>
                </a:solidFill>
                <a:latin typeface="IBM Plex Sans Arabic"/>
                <a:ea typeface="IBM Plex Sans Arabic"/>
                <a:cs typeface="IBM Plex Sans Arabic"/>
                <a:sym typeface="IBM Plex Sans Arabic"/>
              </a:rPr>
              <a:t>كَفيت يقول لك: ليش، ووش خطوتك — مع كل قرار يمسّ حسابك.</a:t>
            </a:r>
            <a:endParaRPr sz="1500">
              <a:solidFill>
                <a:srgbClr val="F6E7DC"/>
              </a:solidFill>
              <a:latin typeface="IBM Plex Sans Arabic"/>
              <a:ea typeface="IBM Plex Sans Arabic"/>
              <a:cs typeface="IBM Plex Sans Arabic"/>
              <a:sym typeface="IBM Plex Sans Arabic"/>
            </a:endParaRPr>
          </a:p>
          <a:p>
            <a:pPr indent="0" lvl="0" marL="0" rtl="1" algn="ctr">
              <a:spcBef>
                <a:spcPts val="0"/>
              </a:spcBef>
              <a:spcAft>
                <a:spcPts val="0"/>
              </a:spcAft>
              <a:buNone/>
            </a:pPr>
            <a:r>
              <a:rPr lang="en" sz="1100">
                <a:solidFill>
                  <a:srgbClr val="B9A9C9"/>
                </a:solidFill>
                <a:latin typeface="IBM Plex Sans Arabic"/>
                <a:ea typeface="IBM Plex Sans Arabic"/>
                <a:cs typeface="IBM Plex Sans Arabic"/>
                <a:sym typeface="IBM Plex Sans Arabic"/>
              </a:rPr>
              <a:t>نايف الدوسري · مسار تجربة العميل · هاكاثون أمد 2026</a:t>
            </a:r>
            <a:endParaRPr sz="1100">
              <a:solidFill>
                <a:srgbClr val="B9A9C9"/>
              </a:solidFill>
              <a:latin typeface="IBM Plex Sans Arabic"/>
              <a:ea typeface="IBM Plex Sans Arabic"/>
              <a:cs typeface="IBM Plex Sans Arabic"/>
              <a:sym typeface="IBM Plex Sans Arabic"/>
            </a:endParaRPr>
          </a:p>
        </p:txBody>
      </p:sp>
      <p:pic>
        <p:nvPicPr>
          <p:cNvPr id="52" name="Google Shape;52;p13"/>
          <p:cNvPicPr preferRelativeResize="0"/>
          <p:nvPr/>
        </p:nvPicPr>
        <p:blipFill>
          <a:blip r:embed="rId4">
            <a:alphaModFix/>
          </a:blip>
          <a:stretch>
            <a:fillRect/>
          </a:stretch>
        </p:blipFill>
        <p:spPr>
          <a:xfrm>
            <a:off x="3603288" y="880796"/>
            <a:ext cx="1937425" cy="1185125"/>
          </a:xfrm>
          <a:prstGeom prst="rect">
            <a:avLst/>
          </a:prstGeom>
          <a:noFill/>
          <a:ln>
            <a:noFill/>
          </a:ln>
        </p:spPr>
      </p:pic>
      <p:pic>
        <p:nvPicPr>
          <p:cNvPr id="53" name="Google Shape;53;p13"/>
          <p:cNvPicPr preferRelativeResize="0"/>
          <p:nvPr/>
        </p:nvPicPr>
        <p:blipFill>
          <a:blip r:embed="rId5">
            <a:alphaModFix/>
          </a:blip>
          <a:stretch>
            <a:fillRect/>
          </a:stretch>
        </p:blipFill>
        <p:spPr>
          <a:xfrm>
            <a:off x="7258250" y="4558400"/>
            <a:ext cx="1613000" cy="315800"/>
          </a:xfrm>
          <a:prstGeom prst="rect">
            <a:avLst/>
          </a:prstGeom>
          <a:noFill/>
          <a:ln>
            <a:noFill/>
          </a:ln>
        </p:spPr>
      </p:pic>
      <p:pic>
        <p:nvPicPr>
          <p:cNvPr id="54" name="Google Shape;54;p13"/>
          <p:cNvPicPr preferRelativeResize="0"/>
          <p:nvPr/>
        </p:nvPicPr>
        <p:blipFill>
          <a:blip r:embed="rId6">
            <a:alphaModFix/>
          </a:blip>
          <a:stretch>
            <a:fillRect/>
          </a:stretch>
        </p:blipFill>
        <p:spPr>
          <a:xfrm>
            <a:off x="279651" y="4522239"/>
            <a:ext cx="1023002" cy="38812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sp>
        <p:nvSpPr>
          <p:cNvPr id="59" name="Google Shape;59;p14"/>
          <p:cNvSpPr txBox="1"/>
          <p:nvPr/>
        </p:nvSpPr>
        <p:spPr>
          <a:xfrm>
            <a:off x="720000" y="1130875"/>
            <a:ext cx="7704000" cy="572700"/>
          </a:xfrm>
          <a:prstGeom prst="rect">
            <a:avLst/>
          </a:prstGeom>
          <a:noFill/>
          <a:ln>
            <a:noFill/>
          </a:ln>
        </p:spPr>
        <p:txBody>
          <a:bodyPr anchorCtr="0" anchor="t" bIns="91425" lIns="91425" spcFirstLastPara="1" rIns="91425" wrap="square" tIns="91425">
            <a:noAutofit/>
          </a:bodyPr>
          <a:lstStyle/>
          <a:p>
            <a:pPr indent="0" lvl="0" marL="0" rtl="1" algn="ctr">
              <a:spcBef>
                <a:spcPts val="0"/>
              </a:spcBef>
              <a:spcAft>
                <a:spcPts val="0"/>
              </a:spcAft>
              <a:buNone/>
            </a:pPr>
            <a:r>
              <a:rPr b="1" lang="en" sz="2800">
                <a:solidFill>
                  <a:srgbClr val="C36B4E"/>
                </a:solidFill>
                <a:latin typeface="IBM Plex Sans Arabic"/>
                <a:ea typeface="IBM Plex Sans Arabic"/>
                <a:cs typeface="IBM Plex Sans Arabic"/>
                <a:sym typeface="IBM Plex Sans Arabic"/>
              </a:rPr>
              <a:t>نايف الدوسري — فريقٌ من فرد</a:t>
            </a:r>
            <a:endParaRPr sz="2800">
              <a:solidFill>
                <a:srgbClr val="C36B4E"/>
              </a:solidFill>
              <a:latin typeface="IBM Plex Sans Arabic"/>
              <a:ea typeface="IBM Plex Sans Arabic"/>
              <a:cs typeface="IBM Plex Sans Arabic"/>
              <a:sym typeface="IBM Plex Sans Arabic"/>
            </a:endParaRPr>
          </a:p>
        </p:txBody>
      </p:sp>
      <p:sp>
        <p:nvSpPr>
          <p:cNvPr id="60" name="Google Shape;60;p14"/>
          <p:cNvSpPr/>
          <p:nvPr/>
        </p:nvSpPr>
        <p:spPr>
          <a:xfrm>
            <a:off x="4926974" y="2007579"/>
            <a:ext cx="1044900" cy="1044900"/>
          </a:xfrm>
          <a:prstGeom prst="ellipse">
            <a:avLst/>
          </a:prstGeom>
          <a:solidFill>
            <a:srgbClr val="032341"/>
          </a:solidFill>
          <a:ln cap="flat" cmpd="sng" w="9525">
            <a:solidFill>
              <a:srgbClr val="C36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p:nvPr/>
        </p:nvSpPr>
        <p:spPr>
          <a:xfrm>
            <a:off x="6495906" y="2007579"/>
            <a:ext cx="1044900" cy="1044900"/>
          </a:xfrm>
          <a:prstGeom prst="ellipse">
            <a:avLst/>
          </a:prstGeom>
          <a:solidFill>
            <a:srgbClr val="032341"/>
          </a:solidFill>
          <a:ln cap="flat" cmpd="sng" w="9525">
            <a:solidFill>
              <a:srgbClr val="C36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nvSpPr>
        <p:spPr>
          <a:xfrm>
            <a:off x="6122163" y="3195325"/>
            <a:ext cx="1638600" cy="626400"/>
          </a:xfrm>
          <a:prstGeom prst="rect">
            <a:avLst/>
          </a:prstGeom>
          <a:noFill/>
          <a:ln>
            <a:noFill/>
          </a:ln>
        </p:spPr>
        <p:txBody>
          <a:bodyPr anchorCtr="0" anchor="t" bIns="91425" lIns="91425" spcFirstLastPara="1" rIns="91425" wrap="square" tIns="91425">
            <a:noAutofit/>
          </a:bodyPr>
          <a:lstStyle/>
          <a:p>
            <a:pPr indent="0" lvl="0" marL="0" rtl="1" algn="ctr">
              <a:lnSpc>
                <a:spcPct val="200000"/>
              </a:lnSpc>
              <a:spcBef>
                <a:spcPts val="0"/>
              </a:spcBef>
              <a:spcAft>
                <a:spcPts val="1600"/>
              </a:spcAft>
              <a:buNone/>
            </a:pPr>
            <a:r>
              <a:rPr lang="en">
                <a:solidFill>
                  <a:srgbClr val="C36B4E"/>
                </a:solidFill>
                <a:latin typeface="IBM Plex Sans Arabic"/>
                <a:ea typeface="IBM Plex Sans Arabic"/>
                <a:cs typeface="IBM Plex Sans Arabic"/>
                <a:sym typeface="IBM Plex Sans Arabic"/>
              </a:rPr>
              <a:t>الفكرة والبحث</a:t>
            </a:r>
            <a:endParaRPr>
              <a:solidFill>
                <a:srgbClr val="C36B4E"/>
              </a:solidFill>
              <a:latin typeface="IBM Plex Sans Arabic"/>
              <a:ea typeface="IBM Plex Sans Arabic"/>
              <a:cs typeface="IBM Plex Sans Arabic"/>
              <a:sym typeface="IBM Plex Sans Arabic"/>
            </a:endParaRPr>
          </a:p>
        </p:txBody>
      </p:sp>
      <p:sp>
        <p:nvSpPr>
          <p:cNvPr id="63" name="Google Shape;63;p14"/>
          <p:cNvSpPr txBox="1"/>
          <p:nvPr/>
        </p:nvSpPr>
        <p:spPr>
          <a:xfrm>
            <a:off x="4623730" y="3195325"/>
            <a:ext cx="1638600" cy="626400"/>
          </a:xfrm>
          <a:prstGeom prst="rect">
            <a:avLst/>
          </a:prstGeom>
          <a:noFill/>
          <a:ln>
            <a:noFill/>
          </a:ln>
        </p:spPr>
        <p:txBody>
          <a:bodyPr anchorCtr="0" anchor="t" bIns="91425" lIns="91425" spcFirstLastPara="1" rIns="91425" wrap="square" tIns="91425">
            <a:noAutofit/>
          </a:bodyPr>
          <a:lstStyle/>
          <a:p>
            <a:pPr indent="0" lvl="0" marL="0" rtl="1" algn="ctr">
              <a:lnSpc>
                <a:spcPct val="200000"/>
              </a:lnSpc>
              <a:spcBef>
                <a:spcPts val="0"/>
              </a:spcBef>
              <a:spcAft>
                <a:spcPts val="1600"/>
              </a:spcAft>
              <a:buNone/>
            </a:pPr>
            <a:r>
              <a:rPr lang="en">
                <a:solidFill>
                  <a:srgbClr val="C36B4E"/>
                </a:solidFill>
                <a:latin typeface="IBM Plex Sans Arabic"/>
                <a:ea typeface="IBM Plex Sans Arabic"/>
                <a:cs typeface="IBM Plex Sans Arabic"/>
                <a:sym typeface="IBM Plex Sans Arabic"/>
              </a:rPr>
              <a:t>تحليل البيانات</a:t>
            </a:r>
            <a:endParaRPr>
              <a:solidFill>
                <a:srgbClr val="C36B4E"/>
              </a:solidFill>
              <a:latin typeface="IBM Plex Sans Arabic"/>
              <a:ea typeface="IBM Plex Sans Arabic"/>
              <a:cs typeface="IBM Plex Sans Arabic"/>
              <a:sym typeface="IBM Plex Sans Arabic"/>
            </a:endParaRPr>
          </a:p>
        </p:txBody>
      </p:sp>
      <p:sp>
        <p:nvSpPr>
          <p:cNvPr id="64" name="Google Shape;64;p14"/>
          <p:cNvSpPr txBox="1"/>
          <p:nvPr/>
        </p:nvSpPr>
        <p:spPr>
          <a:xfrm>
            <a:off x="3006675" y="3195325"/>
            <a:ext cx="1638600" cy="626400"/>
          </a:xfrm>
          <a:prstGeom prst="rect">
            <a:avLst/>
          </a:prstGeom>
          <a:noFill/>
          <a:ln>
            <a:noFill/>
          </a:ln>
        </p:spPr>
        <p:txBody>
          <a:bodyPr anchorCtr="0" anchor="t" bIns="91425" lIns="91425" spcFirstLastPara="1" rIns="91425" wrap="square" tIns="91425">
            <a:noAutofit/>
          </a:bodyPr>
          <a:lstStyle/>
          <a:p>
            <a:pPr indent="0" lvl="0" marL="0" rtl="1" algn="ctr">
              <a:lnSpc>
                <a:spcPct val="200000"/>
              </a:lnSpc>
              <a:spcBef>
                <a:spcPts val="0"/>
              </a:spcBef>
              <a:spcAft>
                <a:spcPts val="1600"/>
              </a:spcAft>
              <a:buNone/>
            </a:pPr>
            <a:r>
              <a:rPr lang="en">
                <a:solidFill>
                  <a:srgbClr val="C36B4E"/>
                </a:solidFill>
                <a:latin typeface="IBM Plex Sans Arabic"/>
                <a:ea typeface="IBM Plex Sans Arabic"/>
                <a:cs typeface="IBM Plex Sans Arabic"/>
                <a:sym typeface="IBM Plex Sans Arabic"/>
              </a:rPr>
              <a:t>تطوير النموذج</a:t>
            </a:r>
            <a:endParaRPr>
              <a:solidFill>
                <a:srgbClr val="C36B4E"/>
              </a:solidFill>
              <a:latin typeface="IBM Plex Sans Arabic"/>
              <a:ea typeface="IBM Plex Sans Arabic"/>
              <a:cs typeface="IBM Plex Sans Arabic"/>
              <a:sym typeface="IBM Plex Sans Arabic"/>
            </a:endParaRPr>
          </a:p>
        </p:txBody>
      </p:sp>
      <p:sp>
        <p:nvSpPr>
          <p:cNvPr id="65" name="Google Shape;65;p14"/>
          <p:cNvSpPr txBox="1"/>
          <p:nvPr/>
        </p:nvSpPr>
        <p:spPr>
          <a:xfrm>
            <a:off x="1383230" y="3195325"/>
            <a:ext cx="1638600" cy="626400"/>
          </a:xfrm>
          <a:prstGeom prst="rect">
            <a:avLst/>
          </a:prstGeom>
          <a:noFill/>
          <a:ln>
            <a:noFill/>
          </a:ln>
        </p:spPr>
        <p:txBody>
          <a:bodyPr anchorCtr="0" anchor="t" bIns="91425" lIns="91425" spcFirstLastPara="1" rIns="91425" wrap="square" tIns="91425">
            <a:noAutofit/>
          </a:bodyPr>
          <a:lstStyle/>
          <a:p>
            <a:pPr indent="0" lvl="0" marL="0" rtl="1" algn="ctr">
              <a:lnSpc>
                <a:spcPct val="200000"/>
              </a:lnSpc>
              <a:spcBef>
                <a:spcPts val="0"/>
              </a:spcBef>
              <a:spcAft>
                <a:spcPts val="1600"/>
              </a:spcAft>
              <a:buNone/>
            </a:pPr>
            <a:r>
              <a:rPr lang="en">
                <a:solidFill>
                  <a:srgbClr val="C36B4E"/>
                </a:solidFill>
                <a:latin typeface="IBM Plex Sans Arabic"/>
                <a:ea typeface="IBM Plex Sans Arabic"/>
                <a:cs typeface="IBM Plex Sans Arabic"/>
                <a:sym typeface="IBM Plex Sans Arabic"/>
              </a:rPr>
              <a:t>التصميم والامتثال</a:t>
            </a:r>
            <a:endParaRPr>
              <a:solidFill>
                <a:srgbClr val="C36B4E"/>
              </a:solidFill>
              <a:latin typeface="IBM Plex Sans Arabic"/>
              <a:ea typeface="IBM Plex Sans Arabic"/>
              <a:cs typeface="IBM Plex Sans Arabic"/>
              <a:sym typeface="IBM Plex Sans Arabic"/>
            </a:endParaRPr>
          </a:p>
        </p:txBody>
      </p:sp>
      <p:sp>
        <p:nvSpPr>
          <p:cNvPr id="66" name="Google Shape;66;p14"/>
          <p:cNvSpPr/>
          <p:nvPr/>
        </p:nvSpPr>
        <p:spPr>
          <a:xfrm>
            <a:off x="1680074" y="2007579"/>
            <a:ext cx="1044900" cy="1044900"/>
          </a:xfrm>
          <a:prstGeom prst="ellipse">
            <a:avLst/>
          </a:prstGeom>
          <a:solidFill>
            <a:srgbClr val="032341"/>
          </a:solidFill>
          <a:ln cap="flat" cmpd="sng" w="9525">
            <a:solidFill>
              <a:srgbClr val="C36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p:nvPr/>
        </p:nvSpPr>
        <p:spPr>
          <a:xfrm>
            <a:off x="3303531" y="2007579"/>
            <a:ext cx="1044900" cy="1044900"/>
          </a:xfrm>
          <a:prstGeom prst="ellipse">
            <a:avLst/>
          </a:prstGeom>
          <a:solidFill>
            <a:srgbClr val="032341"/>
          </a:solidFill>
          <a:ln cap="flat" cmpd="sng" w="9525">
            <a:solidFill>
              <a:srgbClr val="C36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 name="Google Shape;68;p14" title="user.png"/>
          <p:cNvPicPr preferRelativeResize="0"/>
          <p:nvPr/>
        </p:nvPicPr>
        <p:blipFill>
          <a:blip r:embed="rId4">
            <a:alphaModFix/>
          </a:blip>
          <a:stretch>
            <a:fillRect/>
          </a:stretch>
        </p:blipFill>
        <p:spPr>
          <a:xfrm>
            <a:off x="1945725" y="2273225"/>
            <a:ext cx="513597" cy="513603"/>
          </a:xfrm>
          <a:prstGeom prst="rect">
            <a:avLst/>
          </a:prstGeom>
          <a:noFill/>
          <a:ln>
            <a:noFill/>
          </a:ln>
        </p:spPr>
      </p:pic>
      <p:pic>
        <p:nvPicPr>
          <p:cNvPr id="69" name="Google Shape;69;p14" title="user.png"/>
          <p:cNvPicPr preferRelativeResize="0"/>
          <p:nvPr/>
        </p:nvPicPr>
        <p:blipFill>
          <a:blip r:embed="rId4">
            <a:alphaModFix/>
          </a:blip>
          <a:stretch>
            <a:fillRect/>
          </a:stretch>
        </p:blipFill>
        <p:spPr>
          <a:xfrm>
            <a:off x="3569175" y="2273225"/>
            <a:ext cx="513597" cy="513603"/>
          </a:xfrm>
          <a:prstGeom prst="rect">
            <a:avLst/>
          </a:prstGeom>
          <a:noFill/>
          <a:ln>
            <a:noFill/>
          </a:ln>
        </p:spPr>
      </p:pic>
      <p:pic>
        <p:nvPicPr>
          <p:cNvPr id="70" name="Google Shape;70;p14" title="user.png"/>
          <p:cNvPicPr preferRelativeResize="0"/>
          <p:nvPr/>
        </p:nvPicPr>
        <p:blipFill>
          <a:blip r:embed="rId4">
            <a:alphaModFix/>
          </a:blip>
          <a:stretch>
            <a:fillRect/>
          </a:stretch>
        </p:blipFill>
        <p:spPr>
          <a:xfrm>
            <a:off x="5192613" y="2273225"/>
            <a:ext cx="513597" cy="513603"/>
          </a:xfrm>
          <a:prstGeom prst="rect">
            <a:avLst/>
          </a:prstGeom>
          <a:noFill/>
          <a:ln>
            <a:noFill/>
          </a:ln>
        </p:spPr>
      </p:pic>
      <p:pic>
        <p:nvPicPr>
          <p:cNvPr id="71" name="Google Shape;71;p14" title="user.png"/>
          <p:cNvPicPr preferRelativeResize="0"/>
          <p:nvPr/>
        </p:nvPicPr>
        <p:blipFill>
          <a:blip r:embed="rId4">
            <a:alphaModFix/>
          </a:blip>
          <a:stretch>
            <a:fillRect/>
          </a:stretch>
        </p:blipFill>
        <p:spPr>
          <a:xfrm>
            <a:off x="6761550" y="2273225"/>
            <a:ext cx="513597" cy="513603"/>
          </a:xfrm>
          <a:prstGeom prst="rect">
            <a:avLst/>
          </a:prstGeom>
          <a:noFill/>
          <a:ln>
            <a:noFill/>
          </a:ln>
        </p:spPr>
      </p:pic>
      <p:pic>
        <p:nvPicPr>
          <p:cNvPr id="72" name="Google Shape;72;p14" title="Untitled-30.png"/>
          <p:cNvPicPr preferRelativeResize="0"/>
          <p:nvPr/>
        </p:nvPicPr>
        <p:blipFill>
          <a:blip r:embed="rId5">
            <a:alphaModFix/>
          </a:blip>
          <a:stretch>
            <a:fillRect/>
          </a:stretch>
        </p:blipFill>
        <p:spPr>
          <a:xfrm>
            <a:off x="297075" y="178150"/>
            <a:ext cx="829250" cy="8292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Google Shape;77;p15"/>
          <p:cNvSpPr txBox="1"/>
          <p:nvPr/>
        </p:nvSpPr>
        <p:spPr>
          <a:xfrm>
            <a:off x="677425" y="1054150"/>
            <a:ext cx="7416900" cy="536400"/>
          </a:xfrm>
          <a:prstGeom prst="rect">
            <a:avLst/>
          </a:prstGeom>
          <a:noFill/>
          <a:ln>
            <a:noFill/>
          </a:ln>
        </p:spPr>
        <p:txBody>
          <a:bodyPr anchorCtr="0" anchor="t" bIns="91425" lIns="91425" spcFirstLastPara="1" rIns="91425" wrap="square" tIns="91425">
            <a:normAutofit lnSpcReduction="20000"/>
          </a:bodyPr>
          <a:lstStyle/>
          <a:p>
            <a:pPr indent="0" lvl="0" marL="0" rtl="1" algn="r">
              <a:spcBef>
                <a:spcPts val="0"/>
              </a:spcBef>
              <a:spcAft>
                <a:spcPts val="0"/>
              </a:spcAft>
              <a:buNone/>
            </a:pPr>
            <a:r>
              <a:rPr b="1" lang="en" sz="2800">
                <a:solidFill>
                  <a:srgbClr val="032341"/>
                </a:solidFill>
                <a:latin typeface="IBM Plex Sans Arabic"/>
                <a:ea typeface="IBM Plex Sans Arabic"/>
                <a:cs typeface="IBM Plex Sans Arabic"/>
                <a:sym typeface="IBM Plex Sans Arabic"/>
              </a:rPr>
              <a:t>المحتويات:</a:t>
            </a:r>
            <a:endParaRPr b="1" sz="2800">
              <a:solidFill>
                <a:srgbClr val="032341"/>
              </a:solidFill>
              <a:latin typeface="IBM Plex Sans Arabic"/>
              <a:ea typeface="IBM Plex Sans Arabic"/>
              <a:cs typeface="IBM Plex Sans Arabic"/>
              <a:sym typeface="IBM Plex Sans Arabic"/>
            </a:endParaRPr>
          </a:p>
        </p:txBody>
      </p:sp>
      <p:sp>
        <p:nvSpPr>
          <p:cNvPr id="78" name="Google Shape;78;p15"/>
          <p:cNvSpPr txBox="1"/>
          <p:nvPr/>
        </p:nvSpPr>
        <p:spPr>
          <a:xfrm>
            <a:off x="6035350" y="1796425"/>
            <a:ext cx="1586100" cy="3840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en" sz="1520">
                <a:solidFill>
                  <a:srgbClr val="032341"/>
                </a:solidFill>
                <a:latin typeface="IBM Plex Sans Arabic"/>
                <a:ea typeface="IBM Plex Sans Arabic"/>
                <a:cs typeface="IBM Plex Sans Arabic"/>
                <a:sym typeface="IBM Plex Sans Arabic"/>
              </a:rPr>
              <a:t>أعضاء الفريق </a:t>
            </a:r>
            <a:endParaRPr sz="1520">
              <a:solidFill>
                <a:srgbClr val="032341"/>
              </a:solidFill>
              <a:latin typeface="IBM Plex Sans Arabic"/>
              <a:ea typeface="IBM Plex Sans Arabic"/>
              <a:cs typeface="IBM Plex Sans Arabic"/>
              <a:sym typeface="IBM Plex Sans Arabic"/>
            </a:endParaRPr>
          </a:p>
        </p:txBody>
      </p:sp>
      <p:sp>
        <p:nvSpPr>
          <p:cNvPr id="79" name="Google Shape;79;p15"/>
          <p:cNvSpPr/>
          <p:nvPr/>
        </p:nvSpPr>
        <p:spPr>
          <a:xfrm>
            <a:off x="7697600" y="1796425"/>
            <a:ext cx="384000" cy="384000"/>
          </a:xfrm>
          <a:prstGeom prst="roundRect">
            <a:avLst>
              <a:gd fmla="val 18808" name="adj"/>
            </a:avLst>
          </a:prstGeom>
          <a:solidFill>
            <a:srgbClr val="C36B4E"/>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90"/>
              <a:buFont typeface="Arial"/>
              <a:buNone/>
            </a:pPr>
            <a:r>
              <a:rPr b="1" i="0" lang="en" sz="1300" u="none" cap="none" strike="noStrike">
                <a:solidFill>
                  <a:srgbClr val="032341"/>
                </a:solidFill>
                <a:latin typeface="IBM Plex Sans Arabic"/>
                <a:ea typeface="IBM Plex Sans Arabic"/>
                <a:cs typeface="IBM Plex Sans Arabic"/>
                <a:sym typeface="IBM Plex Sans Arabic"/>
              </a:rPr>
              <a:t>01</a:t>
            </a:r>
            <a:endParaRPr b="1" i="0" sz="1300" u="none" cap="none" strike="noStrike">
              <a:solidFill>
                <a:srgbClr val="032341"/>
              </a:solidFill>
              <a:latin typeface="IBM Plex Sans Arabic"/>
              <a:ea typeface="IBM Plex Sans Arabic"/>
              <a:cs typeface="IBM Plex Sans Arabic"/>
              <a:sym typeface="IBM Plex Sans Arabic"/>
            </a:endParaRPr>
          </a:p>
        </p:txBody>
      </p:sp>
      <p:sp>
        <p:nvSpPr>
          <p:cNvPr id="80" name="Google Shape;80;p15"/>
          <p:cNvSpPr txBox="1"/>
          <p:nvPr/>
        </p:nvSpPr>
        <p:spPr>
          <a:xfrm>
            <a:off x="6035350" y="2455975"/>
            <a:ext cx="1586100" cy="3840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en" sz="1520">
                <a:solidFill>
                  <a:srgbClr val="032341"/>
                </a:solidFill>
                <a:latin typeface="IBM Plex Sans Arabic"/>
                <a:ea typeface="IBM Plex Sans Arabic"/>
                <a:cs typeface="IBM Plex Sans Arabic"/>
                <a:sym typeface="IBM Plex Sans Arabic"/>
              </a:rPr>
              <a:t>المشكلة وحلها</a:t>
            </a:r>
            <a:endParaRPr sz="1520">
              <a:solidFill>
                <a:srgbClr val="032341"/>
              </a:solidFill>
              <a:latin typeface="IBM Plex Sans Arabic"/>
              <a:ea typeface="IBM Plex Sans Arabic"/>
              <a:cs typeface="IBM Plex Sans Arabic"/>
              <a:sym typeface="IBM Plex Sans Arabic"/>
            </a:endParaRPr>
          </a:p>
        </p:txBody>
      </p:sp>
      <p:sp>
        <p:nvSpPr>
          <p:cNvPr id="81" name="Google Shape;81;p15"/>
          <p:cNvSpPr/>
          <p:nvPr/>
        </p:nvSpPr>
        <p:spPr>
          <a:xfrm>
            <a:off x="7697600" y="2455975"/>
            <a:ext cx="384000" cy="384000"/>
          </a:xfrm>
          <a:prstGeom prst="roundRect">
            <a:avLst>
              <a:gd fmla="val 18808" name="adj"/>
            </a:avLst>
          </a:prstGeom>
          <a:solidFill>
            <a:srgbClr val="C36B4E"/>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300" u="none" cap="none" strike="noStrike">
                <a:solidFill>
                  <a:srgbClr val="032341"/>
                </a:solidFill>
                <a:latin typeface="IBM Plex Sans Arabic"/>
                <a:ea typeface="IBM Plex Sans Arabic"/>
                <a:cs typeface="IBM Plex Sans Arabic"/>
                <a:sym typeface="IBM Plex Sans Arabic"/>
              </a:rPr>
              <a:t>02</a:t>
            </a:r>
            <a:endParaRPr b="1" i="0" sz="1300" u="none" cap="none" strike="noStrike">
              <a:solidFill>
                <a:srgbClr val="032341"/>
              </a:solidFill>
              <a:latin typeface="IBM Plex Sans Arabic"/>
              <a:ea typeface="IBM Plex Sans Arabic"/>
              <a:cs typeface="IBM Plex Sans Arabic"/>
              <a:sym typeface="IBM Plex Sans Arabic"/>
            </a:endParaRPr>
          </a:p>
        </p:txBody>
      </p:sp>
      <p:sp>
        <p:nvSpPr>
          <p:cNvPr id="82" name="Google Shape;82;p15"/>
          <p:cNvSpPr txBox="1"/>
          <p:nvPr/>
        </p:nvSpPr>
        <p:spPr>
          <a:xfrm>
            <a:off x="5743275" y="3141675"/>
            <a:ext cx="1878300" cy="3840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en" sz="1520">
                <a:solidFill>
                  <a:srgbClr val="032341"/>
                </a:solidFill>
                <a:latin typeface="IBM Plex Sans Arabic"/>
                <a:ea typeface="IBM Plex Sans Arabic"/>
                <a:cs typeface="IBM Plex Sans Arabic"/>
                <a:sym typeface="IBM Plex Sans Arabic"/>
              </a:rPr>
              <a:t>وصف الفكرة</a:t>
            </a:r>
            <a:endParaRPr sz="1520">
              <a:solidFill>
                <a:srgbClr val="032341"/>
              </a:solidFill>
              <a:latin typeface="IBM Plex Sans Arabic"/>
              <a:ea typeface="IBM Plex Sans Arabic"/>
              <a:cs typeface="IBM Plex Sans Arabic"/>
              <a:sym typeface="IBM Plex Sans Arabic"/>
            </a:endParaRPr>
          </a:p>
        </p:txBody>
      </p:sp>
      <p:sp>
        <p:nvSpPr>
          <p:cNvPr id="83" name="Google Shape;83;p15"/>
          <p:cNvSpPr/>
          <p:nvPr/>
        </p:nvSpPr>
        <p:spPr>
          <a:xfrm>
            <a:off x="7697600" y="3141675"/>
            <a:ext cx="384000" cy="384000"/>
          </a:xfrm>
          <a:prstGeom prst="roundRect">
            <a:avLst>
              <a:gd fmla="val 18808" name="adj"/>
            </a:avLst>
          </a:prstGeom>
          <a:solidFill>
            <a:srgbClr val="C36B4E"/>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300" u="none" cap="none" strike="noStrike">
                <a:solidFill>
                  <a:srgbClr val="032341"/>
                </a:solidFill>
                <a:latin typeface="IBM Plex Sans Arabic"/>
                <a:ea typeface="IBM Plex Sans Arabic"/>
                <a:cs typeface="IBM Plex Sans Arabic"/>
                <a:sym typeface="IBM Plex Sans Arabic"/>
              </a:rPr>
              <a:t>03</a:t>
            </a:r>
            <a:endParaRPr b="1" i="0" sz="1300" u="none" cap="none" strike="noStrike">
              <a:solidFill>
                <a:srgbClr val="032341"/>
              </a:solidFill>
              <a:latin typeface="IBM Plex Sans Arabic"/>
              <a:ea typeface="IBM Plex Sans Arabic"/>
              <a:cs typeface="IBM Plex Sans Arabic"/>
              <a:sym typeface="IBM Plex Sans Arabic"/>
            </a:endParaRPr>
          </a:p>
        </p:txBody>
      </p:sp>
      <p:sp>
        <p:nvSpPr>
          <p:cNvPr id="84" name="Google Shape;84;p15"/>
          <p:cNvSpPr txBox="1"/>
          <p:nvPr/>
        </p:nvSpPr>
        <p:spPr>
          <a:xfrm>
            <a:off x="6035350" y="3801225"/>
            <a:ext cx="1586100" cy="3840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en" sz="1520">
                <a:solidFill>
                  <a:srgbClr val="032341"/>
                </a:solidFill>
                <a:latin typeface="IBM Plex Sans Arabic"/>
                <a:ea typeface="IBM Plex Sans Arabic"/>
                <a:cs typeface="IBM Plex Sans Arabic"/>
                <a:sym typeface="IBM Plex Sans Arabic"/>
              </a:rPr>
              <a:t>التقنيات المستخدمة</a:t>
            </a:r>
            <a:endParaRPr sz="1520">
              <a:solidFill>
                <a:srgbClr val="032341"/>
              </a:solidFill>
              <a:latin typeface="IBM Plex Sans Arabic"/>
              <a:ea typeface="IBM Plex Sans Arabic"/>
              <a:cs typeface="IBM Plex Sans Arabic"/>
              <a:sym typeface="IBM Plex Sans Arabic"/>
            </a:endParaRPr>
          </a:p>
        </p:txBody>
      </p:sp>
      <p:sp>
        <p:nvSpPr>
          <p:cNvPr id="85" name="Google Shape;85;p15"/>
          <p:cNvSpPr/>
          <p:nvPr/>
        </p:nvSpPr>
        <p:spPr>
          <a:xfrm>
            <a:off x="7697600" y="3801225"/>
            <a:ext cx="384000" cy="384000"/>
          </a:xfrm>
          <a:prstGeom prst="roundRect">
            <a:avLst>
              <a:gd fmla="val 18808" name="adj"/>
            </a:avLst>
          </a:prstGeom>
          <a:solidFill>
            <a:srgbClr val="C36B4E"/>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300" u="none" cap="none" strike="noStrike">
                <a:solidFill>
                  <a:srgbClr val="032341"/>
                </a:solidFill>
                <a:latin typeface="IBM Plex Sans Arabic"/>
                <a:ea typeface="IBM Plex Sans Arabic"/>
                <a:cs typeface="IBM Plex Sans Arabic"/>
                <a:sym typeface="IBM Plex Sans Arabic"/>
              </a:rPr>
              <a:t>04</a:t>
            </a:r>
            <a:endParaRPr b="1" i="0" sz="1300" u="none" cap="none" strike="noStrike">
              <a:solidFill>
                <a:srgbClr val="032341"/>
              </a:solidFill>
              <a:latin typeface="IBM Plex Sans Arabic"/>
              <a:ea typeface="IBM Plex Sans Arabic"/>
              <a:cs typeface="IBM Plex Sans Arabic"/>
              <a:sym typeface="IBM Plex Sans Arabic"/>
            </a:endParaRPr>
          </a:p>
        </p:txBody>
      </p:sp>
      <p:sp>
        <p:nvSpPr>
          <p:cNvPr id="86" name="Google Shape;86;p15"/>
          <p:cNvSpPr txBox="1"/>
          <p:nvPr/>
        </p:nvSpPr>
        <p:spPr>
          <a:xfrm>
            <a:off x="1645150" y="1796425"/>
            <a:ext cx="3797100" cy="3840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en" sz="1520">
                <a:solidFill>
                  <a:srgbClr val="032341"/>
                </a:solidFill>
                <a:latin typeface="IBM Plex Sans Arabic"/>
                <a:ea typeface="IBM Plex Sans Arabic"/>
                <a:cs typeface="IBM Plex Sans Arabic"/>
                <a:sym typeface="IBM Plex Sans Arabic"/>
              </a:rPr>
              <a:t>جميع البيانات المستخدمة (نصية وغير نصية)</a:t>
            </a:r>
            <a:endParaRPr sz="1520">
              <a:solidFill>
                <a:srgbClr val="032341"/>
              </a:solidFill>
              <a:latin typeface="IBM Plex Sans Arabic"/>
              <a:ea typeface="IBM Plex Sans Arabic"/>
              <a:cs typeface="IBM Plex Sans Arabic"/>
              <a:sym typeface="IBM Plex Sans Arabic"/>
            </a:endParaRPr>
          </a:p>
        </p:txBody>
      </p:sp>
      <p:sp>
        <p:nvSpPr>
          <p:cNvPr id="87" name="Google Shape;87;p15"/>
          <p:cNvSpPr/>
          <p:nvPr/>
        </p:nvSpPr>
        <p:spPr>
          <a:xfrm>
            <a:off x="5518425" y="1796425"/>
            <a:ext cx="384000" cy="384000"/>
          </a:xfrm>
          <a:prstGeom prst="roundRect">
            <a:avLst>
              <a:gd fmla="val 18808" name="adj"/>
            </a:avLst>
          </a:prstGeom>
          <a:solidFill>
            <a:srgbClr val="C36B4E"/>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300" u="none" cap="none" strike="noStrike">
                <a:solidFill>
                  <a:srgbClr val="032341"/>
                </a:solidFill>
                <a:latin typeface="IBM Plex Sans Arabic"/>
                <a:ea typeface="IBM Plex Sans Arabic"/>
                <a:cs typeface="IBM Plex Sans Arabic"/>
                <a:sym typeface="IBM Plex Sans Arabic"/>
              </a:rPr>
              <a:t>05</a:t>
            </a:r>
            <a:endParaRPr b="1" i="0" sz="1300" u="none" cap="none" strike="noStrike">
              <a:solidFill>
                <a:srgbClr val="032341"/>
              </a:solidFill>
              <a:latin typeface="IBM Plex Sans Arabic"/>
              <a:ea typeface="IBM Plex Sans Arabic"/>
              <a:cs typeface="IBM Plex Sans Arabic"/>
              <a:sym typeface="IBM Plex Sans Arabic"/>
            </a:endParaRPr>
          </a:p>
        </p:txBody>
      </p:sp>
      <p:sp>
        <p:nvSpPr>
          <p:cNvPr id="88" name="Google Shape;88;p15"/>
          <p:cNvSpPr txBox="1"/>
          <p:nvPr/>
        </p:nvSpPr>
        <p:spPr>
          <a:xfrm>
            <a:off x="1100275" y="2455975"/>
            <a:ext cx="4342200" cy="3840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en" sz="1520">
                <a:solidFill>
                  <a:srgbClr val="032341"/>
                </a:solidFill>
                <a:latin typeface="IBM Plex Sans Arabic"/>
                <a:ea typeface="IBM Plex Sans Arabic"/>
                <a:cs typeface="IBM Plex Sans Arabic"/>
                <a:sym typeface="IBM Plex Sans Arabic"/>
              </a:rPr>
              <a:t>كيفية توفير هذه البيانات وكيفية استخدامها</a:t>
            </a:r>
            <a:endParaRPr sz="1520">
              <a:solidFill>
                <a:srgbClr val="032341"/>
              </a:solidFill>
              <a:latin typeface="IBM Plex Sans Arabic"/>
              <a:ea typeface="IBM Plex Sans Arabic"/>
              <a:cs typeface="IBM Plex Sans Arabic"/>
              <a:sym typeface="IBM Plex Sans Arabic"/>
            </a:endParaRPr>
          </a:p>
        </p:txBody>
      </p:sp>
      <p:sp>
        <p:nvSpPr>
          <p:cNvPr id="89" name="Google Shape;89;p15"/>
          <p:cNvSpPr/>
          <p:nvPr/>
        </p:nvSpPr>
        <p:spPr>
          <a:xfrm>
            <a:off x="5518425" y="2455975"/>
            <a:ext cx="384000" cy="384000"/>
          </a:xfrm>
          <a:prstGeom prst="roundRect">
            <a:avLst>
              <a:gd fmla="val 18808" name="adj"/>
            </a:avLst>
          </a:prstGeom>
          <a:solidFill>
            <a:srgbClr val="C36B4E"/>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300" u="none" cap="none" strike="noStrike">
                <a:solidFill>
                  <a:srgbClr val="032341"/>
                </a:solidFill>
                <a:latin typeface="IBM Plex Sans Arabic"/>
                <a:ea typeface="IBM Plex Sans Arabic"/>
                <a:cs typeface="IBM Plex Sans Arabic"/>
                <a:sym typeface="IBM Plex Sans Arabic"/>
              </a:rPr>
              <a:t>06</a:t>
            </a:r>
            <a:endParaRPr b="1" i="0" sz="1300" u="none" cap="none" strike="noStrike">
              <a:solidFill>
                <a:srgbClr val="032341"/>
              </a:solidFill>
              <a:latin typeface="IBM Plex Sans Arabic"/>
              <a:ea typeface="IBM Plex Sans Arabic"/>
              <a:cs typeface="IBM Plex Sans Arabic"/>
              <a:sym typeface="IBM Plex Sans Arabic"/>
            </a:endParaRPr>
          </a:p>
        </p:txBody>
      </p:sp>
      <p:sp>
        <p:nvSpPr>
          <p:cNvPr id="90" name="Google Shape;90;p15"/>
          <p:cNvSpPr txBox="1"/>
          <p:nvPr/>
        </p:nvSpPr>
        <p:spPr>
          <a:xfrm>
            <a:off x="3358025" y="3141675"/>
            <a:ext cx="2084400" cy="3840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en" sz="1520">
                <a:solidFill>
                  <a:srgbClr val="032341"/>
                </a:solidFill>
                <a:latin typeface="IBM Plex Sans Arabic"/>
                <a:ea typeface="IBM Plex Sans Arabic"/>
                <a:cs typeface="IBM Plex Sans Arabic"/>
                <a:sym typeface="IBM Plex Sans Arabic"/>
              </a:rPr>
              <a:t>ملخص</a:t>
            </a:r>
            <a:endParaRPr sz="1520">
              <a:solidFill>
                <a:srgbClr val="032341"/>
              </a:solidFill>
              <a:latin typeface="IBM Plex Sans Arabic"/>
              <a:ea typeface="IBM Plex Sans Arabic"/>
              <a:cs typeface="IBM Plex Sans Arabic"/>
              <a:sym typeface="IBM Plex Sans Arabic"/>
            </a:endParaRPr>
          </a:p>
        </p:txBody>
      </p:sp>
      <p:sp>
        <p:nvSpPr>
          <p:cNvPr id="91" name="Google Shape;91;p15"/>
          <p:cNvSpPr/>
          <p:nvPr/>
        </p:nvSpPr>
        <p:spPr>
          <a:xfrm>
            <a:off x="5518425" y="3141675"/>
            <a:ext cx="384000" cy="384000"/>
          </a:xfrm>
          <a:prstGeom prst="roundRect">
            <a:avLst>
              <a:gd fmla="val 18808" name="adj"/>
            </a:avLst>
          </a:prstGeom>
          <a:solidFill>
            <a:srgbClr val="C36B4E"/>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300" u="none" cap="none" strike="noStrike">
                <a:solidFill>
                  <a:srgbClr val="032341"/>
                </a:solidFill>
                <a:latin typeface="IBM Plex Sans Arabic"/>
                <a:ea typeface="IBM Plex Sans Arabic"/>
                <a:cs typeface="IBM Plex Sans Arabic"/>
                <a:sym typeface="IBM Plex Sans Arabic"/>
              </a:rPr>
              <a:t>07</a:t>
            </a:r>
            <a:endParaRPr b="1" i="0" sz="1300" u="none" cap="none" strike="noStrike">
              <a:solidFill>
                <a:srgbClr val="032341"/>
              </a:solidFill>
              <a:latin typeface="IBM Plex Sans Arabic"/>
              <a:ea typeface="IBM Plex Sans Arabic"/>
              <a:cs typeface="IBM Plex Sans Arabic"/>
              <a:sym typeface="IBM Plex Sans Arabic"/>
            </a:endParaRPr>
          </a:p>
        </p:txBody>
      </p:sp>
      <p:pic>
        <p:nvPicPr>
          <p:cNvPr id="92" name="Google Shape;92;p15" title="Untitled-30.png"/>
          <p:cNvPicPr preferRelativeResize="0"/>
          <p:nvPr/>
        </p:nvPicPr>
        <p:blipFill>
          <a:blip r:embed="rId4">
            <a:alphaModFix/>
          </a:blip>
          <a:stretch>
            <a:fillRect/>
          </a:stretch>
        </p:blipFill>
        <p:spPr>
          <a:xfrm>
            <a:off x="297075" y="178150"/>
            <a:ext cx="829250" cy="829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 name="Shape 96"/>
        <p:cNvGrpSpPr/>
        <p:nvPr/>
      </p:nvGrpSpPr>
      <p:grpSpPr>
        <a:xfrm>
          <a:off x="0" y="0"/>
          <a:ext cx="0" cy="0"/>
          <a:chOff x="0" y="0"/>
          <a:chExt cx="0" cy="0"/>
        </a:xfrm>
      </p:grpSpPr>
      <p:pic>
        <p:nvPicPr>
          <p:cNvPr id="97" name="Google Shape;97;p16" title="Untitled-30.png"/>
          <p:cNvPicPr preferRelativeResize="0"/>
          <p:nvPr/>
        </p:nvPicPr>
        <p:blipFill>
          <a:blip r:embed="rId4">
            <a:alphaModFix/>
          </a:blip>
          <a:stretch>
            <a:fillRect/>
          </a:stretch>
        </p:blipFill>
        <p:spPr>
          <a:xfrm>
            <a:off x="297075" y="178150"/>
            <a:ext cx="829250" cy="829250"/>
          </a:xfrm>
          <a:prstGeom prst="rect">
            <a:avLst/>
          </a:prstGeom>
          <a:noFill/>
          <a:ln>
            <a:noFill/>
          </a:ln>
        </p:spPr>
      </p:pic>
      <p:sp>
        <p:nvSpPr>
          <p:cNvPr id="98" name="Google Shape;98;p16"/>
          <p:cNvSpPr txBox="1"/>
          <p:nvPr/>
        </p:nvSpPr>
        <p:spPr>
          <a:xfrm>
            <a:off x="6057900" y="833150"/>
            <a:ext cx="2399700" cy="5727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b="1" lang="en" sz="2800">
                <a:solidFill>
                  <a:srgbClr val="032341"/>
                </a:solidFill>
                <a:latin typeface="IBM Plex Sans Arabic"/>
                <a:ea typeface="IBM Plex Sans Arabic"/>
                <a:cs typeface="IBM Plex Sans Arabic"/>
                <a:sym typeface="IBM Plex Sans Arabic"/>
              </a:rPr>
              <a:t>المشكلة  وحلّها</a:t>
            </a:r>
            <a:endParaRPr sz="2800">
              <a:solidFill>
                <a:srgbClr val="032341"/>
              </a:solidFill>
              <a:latin typeface="IBM Plex Sans Arabic"/>
              <a:ea typeface="IBM Plex Sans Arabic"/>
              <a:cs typeface="IBM Plex Sans Arabic"/>
              <a:sym typeface="IBM Plex Sans Arabic"/>
            </a:endParaRPr>
          </a:p>
        </p:txBody>
      </p:sp>
      <p:sp>
        <p:nvSpPr>
          <p:cNvPr id="99" name="Google Shape;99;p16"/>
          <p:cNvSpPr txBox="1"/>
          <p:nvPr/>
        </p:nvSpPr>
        <p:spPr>
          <a:xfrm>
            <a:off x="1826100" y="1476175"/>
            <a:ext cx="6631500" cy="628500"/>
          </a:xfrm>
          <a:prstGeom prst="rect">
            <a:avLst/>
          </a:prstGeom>
          <a:noFill/>
          <a:ln>
            <a:noFill/>
          </a:ln>
        </p:spPr>
        <p:txBody>
          <a:bodyPr anchorCtr="0" anchor="ctr" bIns="91425" lIns="91425" spcFirstLastPara="1" rIns="91425" wrap="square" tIns="91425">
            <a:noAutofit/>
          </a:bodyPr>
          <a:lstStyle/>
          <a:p>
            <a:pPr indent="0" lvl="0" marL="0" rtl="1" algn="r">
              <a:spcBef>
                <a:spcPts val="0"/>
              </a:spcBef>
              <a:spcAft>
                <a:spcPts val="0"/>
              </a:spcAft>
              <a:buNone/>
            </a:pPr>
            <a:r>
              <a:rPr lang="en" sz="900">
                <a:solidFill>
                  <a:srgbClr val="032341"/>
                </a:solidFill>
                <a:latin typeface="IBM Plex Sans Arabic"/>
                <a:ea typeface="IBM Plex Sans Arabic"/>
                <a:cs typeface="IBM Plex Sans Arabic"/>
                <a:sym typeface="IBM Plex Sans Arabic"/>
              </a:rPr>
              <a:t>عميلٌ في الإنماء كتب: «حجزوا من راتبي 8,000 لمخالفة مرورية… تجاوز الحسم 33٪… هل من حقهم؟». ومعنى كلامه: أنظمة الحسم من الراتب تضع حدّاً أعلى لا يجوز تجاوزه — وهو يرى أن المحجوز تجاوزه، لكنه لا يملك طريقة يتأكّد بها، ولا أحد في المصرف يقول له. سؤاله يبقى معلّقاً. كَفيت يجعل كل قرار آلي يصل العميل ومعه سببه وخطوته التالية.</a:t>
            </a:r>
            <a:endParaRPr sz="900">
              <a:solidFill>
                <a:srgbClr val="032341"/>
              </a:solidFill>
              <a:latin typeface="IBM Plex Sans Arabic"/>
              <a:ea typeface="IBM Plex Sans Arabic"/>
              <a:cs typeface="IBM Plex Sans Arabic"/>
              <a:sym typeface="IBM Plex Sans Arabic"/>
            </a:endParaRPr>
          </a:p>
          <a:p>
            <a:pPr indent="0" lvl="0" marL="0" rtl="1" algn="r">
              <a:spcBef>
                <a:spcPts val="0"/>
              </a:spcBef>
              <a:spcAft>
                <a:spcPts val="0"/>
              </a:spcAft>
              <a:buNone/>
            </a:pPr>
            <a:r>
              <a:t/>
            </a:r>
            <a:endParaRPr sz="900">
              <a:solidFill>
                <a:srgbClr val="FFFFFF"/>
              </a:solidFill>
              <a:latin typeface="IBM Plex Sans Arabic"/>
              <a:ea typeface="IBM Plex Sans Arabic"/>
              <a:cs typeface="IBM Plex Sans Arabic"/>
              <a:sym typeface="IBM Plex Sans Arabic"/>
            </a:endParaRPr>
          </a:p>
          <a:p>
            <a:pPr indent="0" lvl="0" marL="0" rtl="1" algn="r">
              <a:spcBef>
                <a:spcPts val="0"/>
              </a:spcBef>
              <a:spcAft>
                <a:spcPts val="0"/>
              </a:spcAft>
              <a:buNone/>
            </a:pPr>
            <a:r>
              <a:t/>
            </a:r>
            <a:endParaRPr sz="900">
              <a:solidFill>
                <a:srgbClr val="FFFFFF"/>
              </a:solidFill>
              <a:latin typeface="IBM Plex Sans Arabic"/>
              <a:ea typeface="IBM Plex Sans Arabic"/>
              <a:cs typeface="IBM Plex Sans Arabic"/>
              <a:sym typeface="IBM Plex Sans Arabic"/>
            </a:endParaRPr>
          </a:p>
        </p:txBody>
      </p:sp>
      <p:sp>
        <p:nvSpPr>
          <p:cNvPr id="100" name="Google Shape;100;p16"/>
          <p:cNvSpPr txBox="1"/>
          <p:nvPr/>
        </p:nvSpPr>
        <p:spPr>
          <a:xfrm>
            <a:off x="1742859" y="2064697"/>
            <a:ext cx="3707400" cy="628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rgbClr val="032341"/>
                </a:solidFill>
                <a:latin typeface="IBM Plex Sans Arabic"/>
                <a:ea typeface="IBM Plex Sans Arabic"/>
                <a:cs typeface="IBM Plex Sans Arabic"/>
                <a:sym typeface="IBM Plex Sans Arabic"/>
              </a:rPr>
              <a:t>متوسط حوالاتك، وحجمها المألوف، وجهازك الموثوق. محسوبٌ من عملياتك أنت — لا قاعدة واحدة تُطبَّق على الجميع.</a:t>
            </a:r>
            <a:endParaRPr sz="900">
              <a:solidFill>
                <a:srgbClr val="032341"/>
              </a:solidFill>
              <a:latin typeface="IBM Plex Sans Arabic"/>
              <a:ea typeface="IBM Plex Sans Arabic"/>
              <a:cs typeface="IBM Plex Sans Arabic"/>
              <a:sym typeface="IBM Plex Sans Arabic"/>
            </a:endParaRPr>
          </a:p>
        </p:txBody>
      </p:sp>
      <p:sp>
        <p:nvSpPr>
          <p:cNvPr id="101" name="Google Shape;101;p16"/>
          <p:cNvSpPr txBox="1"/>
          <p:nvPr/>
        </p:nvSpPr>
        <p:spPr>
          <a:xfrm>
            <a:off x="1742859" y="2837194"/>
            <a:ext cx="3707400" cy="628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rgbClr val="032341"/>
                </a:solidFill>
                <a:latin typeface="IBM Plex Sans Arabic"/>
                <a:ea typeface="IBM Plex Sans Arabic"/>
                <a:cs typeface="IBM Plex Sans Arabic"/>
                <a:sym typeface="IBM Plex Sans Arabic"/>
              </a:rPr>
              <a:t>كل ما وضحت عاداتك، قلّت الخطوات المطلوبة منك: تأكيد واحد سريع بدل تجميد الحساب — وفوق حدّ ساما دائماً. أما القرار الأمني فلنظام الحماية.</a:t>
            </a:r>
            <a:endParaRPr sz="900">
              <a:solidFill>
                <a:srgbClr val="032341"/>
              </a:solidFill>
              <a:latin typeface="IBM Plex Sans Arabic"/>
              <a:ea typeface="IBM Plex Sans Arabic"/>
              <a:cs typeface="IBM Plex Sans Arabic"/>
              <a:sym typeface="IBM Plex Sans Arabic"/>
            </a:endParaRPr>
          </a:p>
        </p:txBody>
      </p:sp>
      <p:sp>
        <p:nvSpPr>
          <p:cNvPr id="102" name="Google Shape;102;p16"/>
          <p:cNvSpPr txBox="1"/>
          <p:nvPr/>
        </p:nvSpPr>
        <p:spPr>
          <a:xfrm>
            <a:off x="1742859" y="3633604"/>
            <a:ext cx="3707400" cy="628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rgbClr val="032341"/>
                </a:solidFill>
                <a:latin typeface="IBM Plex Sans Arabic"/>
                <a:ea typeface="IBM Plex Sans Arabic"/>
                <a:cs typeface="IBM Plex Sans Arabic"/>
                <a:sym typeface="IBM Plex Sans Arabic"/>
              </a:rPr>
              <a:t>إشعارٌ مع كل قرار: وش صار، وليش، ووش خطوتك — وحقّك في الاعتراض بضغطة.</a:t>
            </a:r>
            <a:endParaRPr sz="900">
              <a:solidFill>
                <a:srgbClr val="032341"/>
              </a:solidFill>
              <a:latin typeface="IBM Plex Sans Arabic"/>
              <a:ea typeface="IBM Plex Sans Arabic"/>
              <a:cs typeface="IBM Plex Sans Arabic"/>
              <a:sym typeface="IBM Plex Sans Arabic"/>
            </a:endParaRPr>
          </a:p>
        </p:txBody>
      </p:sp>
      <p:sp>
        <p:nvSpPr>
          <p:cNvPr id="103" name="Google Shape;103;p16"/>
          <p:cNvSpPr txBox="1"/>
          <p:nvPr/>
        </p:nvSpPr>
        <p:spPr>
          <a:xfrm>
            <a:off x="5487775" y="2064697"/>
            <a:ext cx="2118900" cy="628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500">
                <a:solidFill>
                  <a:srgbClr val="032341"/>
                </a:solidFill>
                <a:latin typeface="IBM Plex Sans Arabic"/>
                <a:ea typeface="IBM Plex Sans Arabic"/>
                <a:cs typeface="IBM Plex Sans Arabic"/>
                <a:sym typeface="IBM Plex Sans Arabic"/>
              </a:rPr>
              <a:t>يعرف وش المعتاد لك</a:t>
            </a:r>
            <a:endParaRPr sz="1500">
              <a:solidFill>
                <a:srgbClr val="032341"/>
              </a:solidFill>
              <a:latin typeface="IBM Plex Sans Arabic"/>
              <a:ea typeface="IBM Plex Sans Arabic"/>
              <a:cs typeface="IBM Plex Sans Arabic"/>
              <a:sym typeface="IBM Plex Sans Arabic"/>
            </a:endParaRPr>
          </a:p>
        </p:txBody>
      </p:sp>
      <p:sp>
        <p:nvSpPr>
          <p:cNvPr id="104" name="Google Shape;104;p16"/>
          <p:cNvSpPr txBox="1"/>
          <p:nvPr/>
        </p:nvSpPr>
        <p:spPr>
          <a:xfrm>
            <a:off x="5487775" y="2837194"/>
            <a:ext cx="2118900" cy="628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500">
                <a:solidFill>
                  <a:srgbClr val="032341"/>
                </a:solidFill>
                <a:latin typeface="IBM Plex Sans Arabic"/>
                <a:ea typeface="IBM Plex Sans Arabic"/>
                <a:cs typeface="IBM Plex Sans Arabic"/>
                <a:sym typeface="IBM Plex Sans Arabic"/>
              </a:rPr>
              <a:t>يطلب منك خطوات أقل</a:t>
            </a:r>
            <a:endParaRPr sz="1500">
              <a:solidFill>
                <a:srgbClr val="032341"/>
              </a:solidFill>
              <a:latin typeface="IBM Plex Sans Arabic"/>
              <a:ea typeface="IBM Plex Sans Arabic"/>
              <a:cs typeface="IBM Plex Sans Arabic"/>
              <a:sym typeface="IBM Plex Sans Arabic"/>
            </a:endParaRPr>
          </a:p>
        </p:txBody>
      </p:sp>
      <p:sp>
        <p:nvSpPr>
          <p:cNvPr id="105" name="Google Shape;105;p16"/>
          <p:cNvSpPr txBox="1"/>
          <p:nvPr/>
        </p:nvSpPr>
        <p:spPr>
          <a:xfrm>
            <a:off x="5487775" y="3633604"/>
            <a:ext cx="2118900" cy="628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500">
                <a:solidFill>
                  <a:srgbClr val="032341"/>
                </a:solidFill>
                <a:latin typeface="IBM Plex Sans Arabic"/>
                <a:ea typeface="IBM Plex Sans Arabic"/>
                <a:cs typeface="IBM Plex Sans Arabic"/>
                <a:sym typeface="IBM Plex Sans Arabic"/>
              </a:rPr>
              <a:t>يقول لك ليش</a:t>
            </a:r>
            <a:endParaRPr sz="1500">
              <a:solidFill>
                <a:srgbClr val="032341"/>
              </a:solidFill>
              <a:latin typeface="IBM Plex Sans Arabic"/>
              <a:ea typeface="IBM Plex Sans Arabic"/>
              <a:cs typeface="IBM Plex Sans Arabic"/>
              <a:sym typeface="IBM Plex Sans Arabic"/>
            </a:endParaRPr>
          </a:p>
        </p:txBody>
      </p:sp>
      <p:grpSp>
        <p:nvGrpSpPr>
          <p:cNvPr id="106" name="Google Shape;106;p16"/>
          <p:cNvGrpSpPr/>
          <p:nvPr/>
        </p:nvGrpSpPr>
        <p:grpSpPr>
          <a:xfrm>
            <a:off x="7972475" y="2059231"/>
            <a:ext cx="485125" cy="639431"/>
            <a:chOff x="7753313" y="2059231"/>
            <a:chExt cx="485125" cy="639431"/>
          </a:xfrm>
        </p:grpSpPr>
        <p:pic>
          <p:nvPicPr>
            <p:cNvPr id="107" name="Google Shape;107;p16" title="Untitled-54.png"/>
            <p:cNvPicPr preferRelativeResize="0"/>
            <p:nvPr/>
          </p:nvPicPr>
          <p:blipFill>
            <a:blip r:embed="rId5">
              <a:alphaModFix/>
            </a:blip>
            <a:stretch>
              <a:fillRect/>
            </a:stretch>
          </p:blipFill>
          <p:spPr>
            <a:xfrm>
              <a:off x="7801650" y="2310188"/>
              <a:ext cx="388475" cy="388475"/>
            </a:xfrm>
            <a:prstGeom prst="rect">
              <a:avLst/>
            </a:prstGeom>
            <a:noFill/>
            <a:ln>
              <a:noFill/>
            </a:ln>
          </p:spPr>
        </p:pic>
        <p:pic>
          <p:nvPicPr>
            <p:cNvPr id="108" name="Google Shape;108;p16" title="idea.png"/>
            <p:cNvPicPr preferRelativeResize="0"/>
            <p:nvPr/>
          </p:nvPicPr>
          <p:blipFill>
            <a:blip r:embed="rId6">
              <a:alphaModFix/>
            </a:blip>
            <a:stretch>
              <a:fillRect/>
            </a:stretch>
          </p:blipFill>
          <p:spPr>
            <a:xfrm>
              <a:off x="7753313" y="2059231"/>
              <a:ext cx="485125" cy="485125"/>
            </a:xfrm>
            <a:prstGeom prst="rect">
              <a:avLst/>
            </a:prstGeom>
            <a:noFill/>
            <a:ln>
              <a:noFill/>
            </a:ln>
          </p:spPr>
        </p:pic>
      </p:grpSp>
      <p:grpSp>
        <p:nvGrpSpPr>
          <p:cNvPr id="109" name="Google Shape;109;p16"/>
          <p:cNvGrpSpPr/>
          <p:nvPr/>
        </p:nvGrpSpPr>
        <p:grpSpPr>
          <a:xfrm>
            <a:off x="8020800" y="2848776"/>
            <a:ext cx="388475" cy="584312"/>
            <a:chOff x="7849975" y="3023575"/>
            <a:chExt cx="388475" cy="584312"/>
          </a:xfrm>
        </p:grpSpPr>
        <p:pic>
          <p:nvPicPr>
            <p:cNvPr id="110" name="Google Shape;110;p16" title="trending.png"/>
            <p:cNvPicPr preferRelativeResize="0"/>
            <p:nvPr/>
          </p:nvPicPr>
          <p:blipFill>
            <a:blip r:embed="rId7">
              <a:alphaModFix/>
            </a:blip>
            <a:stretch>
              <a:fillRect/>
            </a:stretch>
          </p:blipFill>
          <p:spPr>
            <a:xfrm>
              <a:off x="7849975" y="3023575"/>
              <a:ext cx="388475" cy="388475"/>
            </a:xfrm>
            <a:prstGeom prst="rect">
              <a:avLst/>
            </a:prstGeom>
            <a:noFill/>
            <a:ln>
              <a:noFill/>
            </a:ln>
          </p:spPr>
        </p:pic>
        <p:pic>
          <p:nvPicPr>
            <p:cNvPr id="111" name="Google Shape;111;p16" title="Untitled-54.png"/>
            <p:cNvPicPr preferRelativeResize="0"/>
            <p:nvPr/>
          </p:nvPicPr>
          <p:blipFill>
            <a:blip r:embed="rId5">
              <a:alphaModFix/>
            </a:blip>
            <a:stretch>
              <a:fillRect/>
            </a:stretch>
          </p:blipFill>
          <p:spPr>
            <a:xfrm>
              <a:off x="7849975" y="3219413"/>
              <a:ext cx="388475" cy="388475"/>
            </a:xfrm>
            <a:prstGeom prst="rect">
              <a:avLst/>
            </a:prstGeom>
            <a:noFill/>
            <a:ln>
              <a:noFill/>
            </a:ln>
          </p:spPr>
        </p:pic>
      </p:grpSp>
      <p:grpSp>
        <p:nvGrpSpPr>
          <p:cNvPr id="112" name="Google Shape;112;p16"/>
          <p:cNvGrpSpPr/>
          <p:nvPr/>
        </p:nvGrpSpPr>
        <p:grpSpPr>
          <a:xfrm>
            <a:off x="8003424" y="3583230"/>
            <a:ext cx="423226" cy="565597"/>
            <a:chOff x="7815224" y="3702152"/>
            <a:chExt cx="423226" cy="565597"/>
          </a:xfrm>
        </p:grpSpPr>
        <p:pic>
          <p:nvPicPr>
            <p:cNvPr id="113" name="Google Shape;113;p16" title="flash-sale-2.png"/>
            <p:cNvPicPr preferRelativeResize="0"/>
            <p:nvPr/>
          </p:nvPicPr>
          <p:blipFill>
            <a:blip r:embed="rId8">
              <a:alphaModFix/>
            </a:blip>
            <a:stretch>
              <a:fillRect/>
            </a:stretch>
          </p:blipFill>
          <p:spPr>
            <a:xfrm>
              <a:off x="7815224" y="3702152"/>
              <a:ext cx="423224" cy="423250"/>
            </a:xfrm>
            <a:prstGeom prst="rect">
              <a:avLst/>
            </a:prstGeom>
            <a:noFill/>
            <a:ln>
              <a:noFill/>
            </a:ln>
          </p:spPr>
        </p:pic>
        <p:pic>
          <p:nvPicPr>
            <p:cNvPr id="114" name="Google Shape;114;p16" title="Untitled-54.png"/>
            <p:cNvPicPr preferRelativeResize="0"/>
            <p:nvPr/>
          </p:nvPicPr>
          <p:blipFill>
            <a:blip r:embed="rId5">
              <a:alphaModFix/>
            </a:blip>
            <a:stretch>
              <a:fillRect/>
            </a:stretch>
          </p:blipFill>
          <p:spPr>
            <a:xfrm>
              <a:off x="7849975" y="3879274"/>
              <a:ext cx="388475" cy="388475"/>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 name="Shape 118"/>
        <p:cNvGrpSpPr/>
        <p:nvPr/>
      </p:nvGrpSpPr>
      <p:grpSpPr>
        <a:xfrm>
          <a:off x="0" y="0"/>
          <a:ext cx="0" cy="0"/>
          <a:chOff x="0" y="0"/>
          <a:chExt cx="0" cy="0"/>
        </a:xfrm>
      </p:grpSpPr>
      <p:pic>
        <p:nvPicPr>
          <p:cNvPr id="119" name="Google Shape;119;p17" title="Untitled-30.png"/>
          <p:cNvPicPr preferRelativeResize="0"/>
          <p:nvPr/>
        </p:nvPicPr>
        <p:blipFill>
          <a:blip r:embed="rId4">
            <a:alphaModFix/>
          </a:blip>
          <a:stretch>
            <a:fillRect/>
          </a:stretch>
        </p:blipFill>
        <p:spPr>
          <a:xfrm>
            <a:off x="297075" y="178150"/>
            <a:ext cx="829250" cy="829250"/>
          </a:xfrm>
          <a:prstGeom prst="rect">
            <a:avLst/>
          </a:prstGeom>
          <a:noFill/>
          <a:ln>
            <a:noFill/>
          </a:ln>
        </p:spPr>
      </p:pic>
      <p:sp>
        <p:nvSpPr>
          <p:cNvPr id="120" name="Google Shape;120;p17"/>
          <p:cNvSpPr txBox="1"/>
          <p:nvPr/>
        </p:nvSpPr>
        <p:spPr>
          <a:xfrm>
            <a:off x="4916400" y="833150"/>
            <a:ext cx="3541200" cy="5727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b="1" lang="en" sz="2800">
                <a:solidFill>
                  <a:srgbClr val="032341"/>
                </a:solidFill>
                <a:latin typeface="IBM Plex Sans Arabic"/>
                <a:ea typeface="IBM Plex Sans Arabic"/>
                <a:cs typeface="IBM Plex Sans Arabic"/>
                <a:sym typeface="IBM Plex Sans Arabic"/>
              </a:rPr>
              <a:t>البيانات المستخدمة</a:t>
            </a:r>
            <a:endParaRPr sz="2800">
              <a:solidFill>
                <a:srgbClr val="032341"/>
              </a:solidFill>
              <a:latin typeface="IBM Plex Sans Arabic"/>
              <a:ea typeface="IBM Plex Sans Arabic"/>
              <a:cs typeface="IBM Plex Sans Arabic"/>
              <a:sym typeface="IBM Plex Sans Arabic"/>
            </a:endParaRPr>
          </a:p>
          <a:p>
            <a:pPr indent="0" lvl="0" marL="0" rtl="1" algn="r">
              <a:spcBef>
                <a:spcPts val="0"/>
              </a:spcBef>
              <a:spcAft>
                <a:spcPts val="0"/>
              </a:spcAft>
              <a:buNone/>
            </a:pPr>
            <a:r>
              <a:t/>
            </a:r>
            <a:endParaRPr b="1" sz="2800">
              <a:solidFill>
                <a:srgbClr val="032341"/>
              </a:solidFill>
              <a:latin typeface="IBM Plex Sans Arabic"/>
              <a:ea typeface="IBM Plex Sans Arabic"/>
              <a:cs typeface="IBM Plex Sans Arabic"/>
              <a:sym typeface="IBM Plex Sans Arabic"/>
            </a:endParaRPr>
          </a:p>
        </p:txBody>
      </p:sp>
      <p:sp>
        <p:nvSpPr>
          <p:cNvPr id="121" name="Google Shape;121;p17"/>
          <p:cNvSpPr txBox="1"/>
          <p:nvPr/>
        </p:nvSpPr>
        <p:spPr>
          <a:xfrm>
            <a:off x="1826100" y="1349823"/>
            <a:ext cx="6631500" cy="628500"/>
          </a:xfrm>
          <a:prstGeom prst="rect">
            <a:avLst/>
          </a:prstGeom>
          <a:noFill/>
          <a:ln>
            <a:noFill/>
          </a:ln>
        </p:spPr>
        <p:txBody>
          <a:bodyPr anchorCtr="0" anchor="ctr" bIns="91425" lIns="91425" spcFirstLastPara="1" rIns="91425" wrap="square" tIns="91425">
            <a:noAutofit/>
          </a:bodyPr>
          <a:lstStyle/>
          <a:p>
            <a:pPr indent="0" lvl="0" marL="0" rtl="1" algn="ctr">
              <a:spcBef>
                <a:spcPts val="0"/>
              </a:spcBef>
              <a:spcAft>
                <a:spcPts val="0"/>
              </a:spcAft>
              <a:buNone/>
            </a:pPr>
            <a:r>
              <a:rPr lang="en" sz="1000">
                <a:solidFill>
                  <a:srgbClr val="032341"/>
                </a:solidFill>
                <a:latin typeface="IBM Plex Sans Arabic"/>
                <a:ea typeface="IBM Plex Sans Arabic"/>
                <a:cs typeface="IBM Plex Sans Arabic"/>
                <a:sym typeface="IBM Plex Sans Arabic"/>
              </a:rPr>
              <a:t>بياناتنا نوعان — نفصلهما بوضوح. الأول: أصوات عملاء حقيقية (201 رداً موثّقاً بمعرّفاته وتواريخه)، وهي التي أثبتت المشكلة. الثاني: معاملات تجريبية واقعية الصيغ داخل النموذج — لا نستخدم أي بيان عميل حقيقي.</a:t>
            </a:r>
            <a:endParaRPr sz="900">
              <a:solidFill>
                <a:srgbClr val="FFFFFF"/>
              </a:solidFill>
              <a:latin typeface="IBM Plex Sans Arabic"/>
              <a:ea typeface="IBM Plex Sans Arabic"/>
              <a:cs typeface="IBM Plex Sans Arabic"/>
              <a:sym typeface="IBM Plex Sans Arabic"/>
            </a:endParaRPr>
          </a:p>
        </p:txBody>
      </p:sp>
      <p:sp>
        <p:nvSpPr>
          <p:cNvPr id="122" name="Google Shape;122;p17"/>
          <p:cNvSpPr txBox="1"/>
          <p:nvPr/>
        </p:nvSpPr>
        <p:spPr>
          <a:xfrm>
            <a:off x="968100" y="2021083"/>
            <a:ext cx="7489500" cy="829200"/>
          </a:xfrm>
          <a:prstGeom prst="rect">
            <a:avLst/>
          </a:prstGeom>
          <a:noFill/>
          <a:ln>
            <a:noFill/>
          </a:ln>
        </p:spPr>
        <p:txBody>
          <a:bodyPr anchorCtr="0" anchor="ctr" bIns="91425" lIns="91425" spcFirstLastPara="1" rIns="91425" wrap="square" tIns="91425">
            <a:noAutofit/>
          </a:bodyPr>
          <a:lstStyle/>
          <a:p>
            <a:pPr indent="-292100" lvl="0" marL="457200" rtl="1" algn="r">
              <a:lnSpc>
                <a:spcPct val="150000"/>
              </a:lnSpc>
              <a:spcBef>
                <a:spcPts val="0"/>
              </a:spcBef>
              <a:spcAft>
                <a:spcPts val="0"/>
              </a:spcAft>
              <a:buClr>
                <a:srgbClr val="C36B4E"/>
              </a:buClr>
              <a:buSzPts val="1000"/>
              <a:buFont typeface="IBM Plex Sans Arabic"/>
              <a:buChar char="●"/>
            </a:pPr>
            <a:r>
              <a:rPr lang="en" sz="1000">
                <a:solidFill>
                  <a:srgbClr val="C36B4E"/>
                </a:solidFill>
                <a:latin typeface="IBM Plex Sans Arabic"/>
                <a:ea typeface="IBM Plex Sans Arabic"/>
                <a:cs typeface="IBM Plex Sans Arabic"/>
                <a:sym typeface="IBM Plex Sans Arabic"/>
              </a:rPr>
              <a:t>الجهات الأربع عشرة المسحوبة: الراجحي · الأهلي · الرياض · السعودي الأول · البلاد · الفرنسي · العربي الوطني · stc bank · urpay · D360 · barq · Tweeq · meem · الإنماء — لا أحد منها يشرح سبب الرفض أو الحجز.</a:t>
            </a:r>
            <a:endParaRPr sz="1000">
              <a:solidFill>
                <a:srgbClr val="C36B4E"/>
              </a:solidFill>
              <a:latin typeface="IBM Plex Sans Arabic"/>
              <a:ea typeface="IBM Plex Sans Arabic"/>
              <a:cs typeface="IBM Plex Sans Arabic"/>
              <a:sym typeface="IBM Plex Sans Arabic"/>
            </a:endParaRPr>
          </a:p>
          <a:p>
            <a:pPr indent="-292100" lvl="0" marL="457200" rtl="1" algn="r">
              <a:lnSpc>
                <a:spcPct val="150000"/>
              </a:lnSpc>
              <a:spcBef>
                <a:spcPts val="0"/>
              </a:spcBef>
              <a:spcAft>
                <a:spcPts val="0"/>
              </a:spcAft>
              <a:buClr>
                <a:srgbClr val="C36B4E"/>
              </a:buClr>
              <a:buSzPts val="1000"/>
              <a:buFont typeface="IBM Plex Sans Arabic"/>
              <a:buChar char="●"/>
            </a:pPr>
            <a:r>
              <a:rPr lang="en" sz="1000">
                <a:solidFill>
                  <a:srgbClr val="C36B4E"/>
                </a:solidFill>
                <a:latin typeface="IBM Plex Sans Arabic"/>
                <a:ea typeface="IBM Plex Sans Arabic"/>
                <a:cs typeface="IBM Plex Sans Arabic"/>
                <a:sym typeface="IBM Plex Sans Arabic"/>
              </a:rPr>
              <a:t>المعالجة: استُبعد الضجيج غير المتعلق بالخدمة المصرفية (139 ← 81 صوتاً حقيقياً)، ثم صُنّف كل ردّ يدوياً بثيمة واحدة. النِّسب مؤشرات عيّنة لا نتائج معمّمة.</a:t>
            </a:r>
            <a:endParaRPr sz="1000">
              <a:solidFill>
                <a:srgbClr val="C36B4E"/>
              </a:solidFill>
              <a:latin typeface="IBM Plex Sans Arabic"/>
              <a:ea typeface="IBM Plex Sans Arabic"/>
              <a:cs typeface="IBM Plex Sans Arabic"/>
              <a:sym typeface="IBM Plex Sans Arabic"/>
            </a:endParaRPr>
          </a:p>
          <a:p>
            <a:pPr indent="-292100" lvl="0" marL="457200" rtl="1" algn="r">
              <a:lnSpc>
                <a:spcPct val="150000"/>
              </a:lnSpc>
              <a:spcBef>
                <a:spcPts val="0"/>
              </a:spcBef>
              <a:spcAft>
                <a:spcPts val="0"/>
              </a:spcAft>
              <a:buClr>
                <a:srgbClr val="C36B4E"/>
              </a:buClr>
              <a:buSzPts val="1000"/>
              <a:buFont typeface="IBM Plex Sans Arabic"/>
              <a:buChar char="●"/>
            </a:pPr>
            <a:r>
              <a:rPr lang="en" sz="1000">
                <a:solidFill>
                  <a:srgbClr val="C36B4E"/>
                </a:solidFill>
                <a:latin typeface="IBM Plex Sans Arabic"/>
                <a:ea typeface="IBM Plex Sans Arabic"/>
                <a:cs typeface="IBM Plex Sans Arabic"/>
                <a:sym typeface="IBM Plex Sans Arabic"/>
              </a:rPr>
              <a:t>حدّ الصدق في الرقم: 84.3% تقيس زمن المعالجة — أي الانتظار والغموض. وكَفيت لا يقصّر المدّة؛ يهاجم الغموض: من يعرف سبب قراره وخطوته التالية لا ينتظر في فراغ ولا يفتح شكوى ليسأل «وش صار؟»</a:t>
            </a:r>
            <a:endParaRPr sz="1000">
              <a:solidFill>
                <a:srgbClr val="C36B4E"/>
              </a:solidFill>
              <a:latin typeface="IBM Plex Sans Arabic"/>
              <a:ea typeface="IBM Plex Sans Arabic"/>
              <a:cs typeface="IBM Plex Sans Arabic"/>
              <a:sym typeface="IBM Plex Sans Arabic"/>
            </a:endParaRPr>
          </a:p>
          <a:p>
            <a:pPr indent="0" lvl="0" marL="0" rtl="1" algn="ctr">
              <a:lnSpc>
                <a:spcPct val="150000"/>
              </a:lnSpc>
              <a:spcBef>
                <a:spcPts val="0"/>
              </a:spcBef>
              <a:spcAft>
                <a:spcPts val="0"/>
              </a:spcAft>
              <a:buNone/>
            </a:pPr>
            <a:r>
              <a:t/>
            </a:r>
            <a:endParaRPr sz="1000">
              <a:solidFill>
                <a:srgbClr val="C36B4E"/>
              </a:solidFill>
              <a:latin typeface="IBM Plex Sans Arabic"/>
              <a:ea typeface="IBM Plex Sans Arabic"/>
              <a:cs typeface="IBM Plex Sans Arabic"/>
              <a:sym typeface="IBM Plex Sans Arabic"/>
            </a:endParaRPr>
          </a:p>
        </p:txBody>
      </p:sp>
      <p:grpSp>
        <p:nvGrpSpPr>
          <p:cNvPr id="123" name="Google Shape;123;p17"/>
          <p:cNvGrpSpPr/>
          <p:nvPr/>
        </p:nvGrpSpPr>
        <p:grpSpPr>
          <a:xfrm>
            <a:off x="2107738" y="2987825"/>
            <a:ext cx="6349863" cy="812150"/>
            <a:chOff x="1891963" y="3138675"/>
            <a:chExt cx="6349863" cy="812150"/>
          </a:xfrm>
        </p:grpSpPr>
        <p:grpSp>
          <p:nvGrpSpPr>
            <p:cNvPr id="124" name="Google Shape;124;p17"/>
            <p:cNvGrpSpPr/>
            <p:nvPr/>
          </p:nvGrpSpPr>
          <p:grpSpPr>
            <a:xfrm>
              <a:off x="1891963" y="3138675"/>
              <a:ext cx="1934325" cy="812150"/>
              <a:chOff x="5557750" y="1925750"/>
              <a:chExt cx="1934325" cy="812150"/>
            </a:xfrm>
          </p:grpSpPr>
          <p:pic>
            <p:nvPicPr>
              <p:cNvPr id="125" name="Google Shape;125;p17" title="Untitled-35.png"/>
              <p:cNvPicPr preferRelativeResize="0"/>
              <p:nvPr/>
            </p:nvPicPr>
            <p:blipFill>
              <a:blip r:embed="rId5">
                <a:alphaModFix/>
              </a:blip>
              <a:stretch>
                <a:fillRect/>
              </a:stretch>
            </p:blipFill>
            <p:spPr>
              <a:xfrm>
                <a:off x="5557750" y="2157600"/>
                <a:ext cx="1934325" cy="580294"/>
              </a:xfrm>
              <a:prstGeom prst="rect">
                <a:avLst/>
              </a:prstGeom>
              <a:noFill/>
              <a:ln>
                <a:noFill/>
              </a:ln>
            </p:spPr>
          </p:pic>
          <p:sp>
            <p:nvSpPr>
              <p:cNvPr id="126" name="Google Shape;126;p17"/>
              <p:cNvSpPr txBox="1"/>
              <p:nvPr/>
            </p:nvSpPr>
            <p:spPr>
              <a:xfrm>
                <a:off x="5915913" y="1925750"/>
                <a:ext cx="1218000" cy="500700"/>
              </a:xfrm>
              <a:prstGeom prst="rect">
                <a:avLst/>
              </a:prstGeom>
              <a:noFill/>
              <a:ln>
                <a:noFill/>
              </a:ln>
            </p:spPr>
            <p:txBody>
              <a:bodyPr anchorCtr="0" anchor="t" bIns="91425" lIns="91425" spcFirstLastPara="1" rIns="91425" wrap="square" tIns="91425">
                <a:noAutofit/>
              </a:bodyPr>
              <a:lstStyle/>
              <a:p>
                <a:pPr indent="0" lvl="0" marL="0" rtl="1" algn="ctr">
                  <a:spcBef>
                    <a:spcPts val="0"/>
                  </a:spcBef>
                  <a:spcAft>
                    <a:spcPts val="0"/>
                  </a:spcAft>
                  <a:buNone/>
                </a:pPr>
                <a:r>
                  <a:rPr lang="en" sz="2200">
                    <a:solidFill>
                      <a:srgbClr val="032341"/>
                    </a:solidFill>
                    <a:latin typeface="IBM Plex Sans Arabic Medium"/>
                    <a:ea typeface="IBM Plex Sans Arabic Medium"/>
                    <a:cs typeface="IBM Plex Sans Arabic Medium"/>
                    <a:sym typeface="IBM Plex Sans Arabic Medium"/>
                  </a:rPr>
                  <a:t>84.3%</a:t>
                </a:r>
                <a:endParaRPr sz="2200">
                  <a:solidFill>
                    <a:srgbClr val="032341"/>
                  </a:solidFill>
                  <a:latin typeface="IBM Plex Sans Arabic Medium"/>
                  <a:ea typeface="IBM Plex Sans Arabic Medium"/>
                  <a:cs typeface="IBM Plex Sans Arabic Medium"/>
                  <a:sym typeface="IBM Plex Sans Arabic Medium"/>
                </a:endParaRPr>
              </a:p>
            </p:txBody>
          </p:sp>
          <p:sp>
            <p:nvSpPr>
              <p:cNvPr id="127" name="Google Shape;127;p17"/>
              <p:cNvSpPr txBox="1"/>
              <p:nvPr/>
            </p:nvSpPr>
            <p:spPr>
              <a:xfrm>
                <a:off x="5915913" y="2315500"/>
                <a:ext cx="1218000" cy="42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500">
                    <a:solidFill>
                      <a:srgbClr val="C36B4E"/>
                    </a:solidFill>
                    <a:latin typeface="IBM Plex Sans Arabic"/>
                    <a:ea typeface="IBM Plex Sans Arabic"/>
                    <a:cs typeface="IBM Plex Sans Arabic"/>
                    <a:sym typeface="IBM Plex Sans Arabic"/>
                  </a:rPr>
                  <a:t>انتظار العميل</a:t>
                </a:r>
                <a:endParaRPr sz="1500">
                  <a:solidFill>
                    <a:srgbClr val="C36B4E"/>
                  </a:solidFill>
                  <a:latin typeface="IBM Plex Sans Arabic"/>
                  <a:ea typeface="IBM Plex Sans Arabic"/>
                  <a:cs typeface="IBM Plex Sans Arabic"/>
                  <a:sym typeface="IBM Plex Sans Arabic"/>
                </a:endParaRPr>
              </a:p>
              <a:p>
                <a:pPr indent="0" lvl="0" marL="0" rtl="1" algn="r">
                  <a:spcBef>
                    <a:spcPts val="0"/>
                  </a:spcBef>
                  <a:spcAft>
                    <a:spcPts val="0"/>
                  </a:spcAft>
                  <a:buNone/>
                </a:pPr>
                <a:r>
                  <a:t/>
                </a:r>
                <a:endParaRPr sz="1300">
                  <a:solidFill>
                    <a:srgbClr val="C36B4E"/>
                  </a:solidFill>
                  <a:latin typeface="IBM Plex Sans Arabic Medium"/>
                  <a:ea typeface="IBM Plex Sans Arabic Medium"/>
                  <a:cs typeface="IBM Plex Sans Arabic Medium"/>
                  <a:sym typeface="IBM Plex Sans Arabic Medium"/>
                </a:endParaRPr>
              </a:p>
            </p:txBody>
          </p:sp>
        </p:grpSp>
        <p:grpSp>
          <p:nvGrpSpPr>
            <p:cNvPr id="128" name="Google Shape;128;p17"/>
            <p:cNvGrpSpPr/>
            <p:nvPr/>
          </p:nvGrpSpPr>
          <p:grpSpPr>
            <a:xfrm>
              <a:off x="4099731" y="3138675"/>
              <a:ext cx="1934325" cy="812150"/>
              <a:chOff x="5557750" y="1925750"/>
              <a:chExt cx="1934325" cy="812150"/>
            </a:xfrm>
          </p:grpSpPr>
          <p:pic>
            <p:nvPicPr>
              <p:cNvPr id="129" name="Google Shape;129;p17" title="Untitled-35.png"/>
              <p:cNvPicPr preferRelativeResize="0"/>
              <p:nvPr/>
            </p:nvPicPr>
            <p:blipFill>
              <a:blip r:embed="rId5">
                <a:alphaModFix/>
              </a:blip>
              <a:stretch>
                <a:fillRect/>
              </a:stretch>
            </p:blipFill>
            <p:spPr>
              <a:xfrm>
                <a:off x="5557750" y="2157600"/>
                <a:ext cx="1934325" cy="580294"/>
              </a:xfrm>
              <a:prstGeom prst="rect">
                <a:avLst/>
              </a:prstGeom>
              <a:noFill/>
              <a:ln>
                <a:noFill/>
              </a:ln>
            </p:spPr>
          </p:pic>
          <p:sp>
            <p:nvSpPr>
              <p:cNvPr id="130" name="Google Shape;130;p17"/>
              <p:cNvSpPr txBox="1"/>
              <p:nvPr/>
            </p:nvSpPr>
            <p:spPr>
              <a:xfrm>
                <a:off x="5915913" y="1925750"/>
                <a:ext cx="1218000" cy="500700"/>
              </a:xfrm>
              <a:prstGeom prst="rect">
                <a:avLst/>
              </a:prstGeom>
              <a:noFill/>
              <a:ln>
                <a:noFill/>
              </a:ln>
            </p:spPr>
            <p:txBody>
              <a:bodyPr anchorCtr="0" anchor="t" bIns="91425" lIns="91425" spcFirstLastPara="1" rIns="91425" wrap="square" tIns="91425">
                <a:noAutofit/>
              </a:bodyPr>
              <a:lstStyle/>
              <a:p>
                <a:pPr indent="0" lvl="0" marL="0" rtl="1" algn="ctr">
                  <a:spcBef>
                    <a:spcPts val="0"/>
                  </a:spcBef>
                  <a:spcAft>
                    <a:spcPts val="0"/>
                  </a:spcAft>
                  <a:buNone/>
                </a:pPr>
                <a:r>
                  <a:rPr lang="en" sz="2200">
                    <a:solidFill>
                      <a:srgbClr val="032341"/>
                    </a:solidFill>
                    <a:latin typeface="IBM Plex Sans Arabic Medium"/>
                    <a:ea typeface="IBM Plex Sans Arabic Medium"/>
                    <a:cs typeface="IBM Plex Sans Arabic Medium"/>
                    <a:sym typeface="IBM Plex Sans Arabic Medium"/>
                  </a:rPr>
                  <a:t>201</a:t>
                </a:r>
                <a:endParaRPr sz="2200">
                  <a:solidFill>
                    <a:srgbClr val="032341"/>
                  </a:solidFill>
                  <a:latin typeface="IBM Plex Sans Arabic Medium"/>
                  <a:ea typeface="IBM Plex Sans Arabic Medium"/>
                  <a:cs typeface="IBM Plex Sans Arabic Medium"/>
                  <a:sym typeface="IBM Plex Sans Arabic Medium"/>
                </a:endParaRPr>
              </a:p>
            </p:txBody>
          </p:sp>
          <p:sp>
            <p:nvSpPr>
              <p:cNvPr id="131" name="Google Shape;131;p17"/>
              <p:cNvSpPr txBox="1"/>
              <p:nvPr/>
            </p:nvSpPr>
            <p:spPr>
              <a:xfrm>
                <a:off x="5915913" y="2315500"/>
                <a:ext cx="1218000" cy="42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rgbClr val="C36B4E"/>
                    </a:solidFill>
                    <a:latin typeface="IBM Plex Sans Arabic"/>
                    <a:ea typeface="IBM Plex Sans Arabic"/>
                    <a:cs typeface="IBM Plex Sans Arabic"/>
                    <a:sym typeface="IBM Plex Sans Arabic"/>
                  </a:rPr>
                  <a:t>ردّاً حقيقياً</a:t>
                </a:r>
                <a:endParaRPr sz="1500">
                  <a:solidFill>
                    <a:srgbClr val="C36B4E"/>
                  </a:solidFill>
                  <a:latin typeface="IBM Plex Sans Arabic"/>
                  <a:ea typeface="IBM Plex Sans Arabic"/>
                  <a:cs typeface="IBM Plex Sans Arabic"/>
                  <a:sym typeface="IBM Plex Sans Arabic"/>
                </a:endParaRPr>
              </a:p>
              <a:p>
                <a:pPr indent="0" lvl="0" marL="0" rtl="1" algn="r">
                  <a:spcBef>
                    <a:spcPts val="0"/>
                  </a:spcBef>
                  <a:spcAft>
                    <a:spcPts val="0"/>
                  </a:spcAft>
                  <a:buNone/>
                </a:pPr>
                <a:r>
                  <a:t/>
                </a:r>
                <a:endParaRPr sz="1300">
                  <a:solidFill>
                    <a:srgbClr val="C36B4E"/>
                  </a:solidFill>
                  <a:latin typeface="IBM Plex Sans Arabic Medium"/>
                  <a:ea typeface="IBM Plex Sans Arabic Medium"/>
                  <a:cs typeface="IBM Plex Sans Arabic Medium"/>
                  <a:sym typeface="IBM Plex Sans Arabic Medium"/>
                </a:endParaRPr>
              </a:p>
            </p:txBody>
          </p:sp>
        </p:grpSp>
        <p:grpSp>
          <p:nvGrpSpPr>
            <p:cNvPr id="132" name="Google Shape;132;p17"/>
            <p:cNvGrpSpPr/>
            <p:nvPr/>
          </p:nvGrpSpPr>
          <p:grpSpPr>
            <a:xfrm>
              <a:off x="6307500" y="3138675"/>
              <a:ext cx="1934325" cy="812150"/>
              <a:chOff x="5557750" y="1925750"/>
              <a:chExt cx="1934325" cy="812150"/>
            </a:xfrm>
          </p:grpSpPr>
          <p:pic>
            <p:nvPicPr>
              <p:cNvPr id="133" name="Google Shape;133;p17" title="Untitled-35.png"/>
              <p:cNvPicPr preferRelativeResize="0"/>
              <p:nvPr/>
            </p:nvPicPr>
            <p:blipFill>
              <a:blip r:embed="rId5">
                <a:alphaModFix/>
              </a:blip>
              <a:stretch>
                <a:fillRect/>
              </a:stretch>
            </p:blipFill>
            <p:spPr>
              <a:xfrm>
                <a:off x="5557750" y="2157600"/>
                <a:ext cx="1934325" cy="580294"/>
              </a:xfrm>
              <a:prstGeom prst="rect">
                <a:avLst/>
              </a:prstGeom>
              <a:noFill/>
              <a:ln>
                <a:noFill/>
              </a:ln>
            </p:spPr>
          </p:pic>
          <p:sp>
            <p:nvSpPr>
              <p:cNvPr id="134" name="Google Shape;134;p17"/>
              <p:cNvSpPr txBox="1"/>
              <p:nvPr/>
            </p:nvSpPr>
            <p:spPr>
              <a:xfrm>
                <a:off x="5915913" y="1925750"/>
                <a:ext cx="1218000" cy="500700"/>
              </a:xfrm>
              <a:prstGeom prst="rect">
                <a:avLst/>
              </a:prstGeom>
              <a:noFill/>
              <a:ln>
                <a:noFill/>
              </a:ln>
            </p:spPr>
            <p:txBody>
              <a:bodyPr anchorCtr="0" anchor="t" bIns="91425" lIns="91425" spcFirstLastPara="1" rIns="91425" wrap="square" tIns="91425">
                <a:noAutofit/>
              </a:bodyPr>
              <a:lstStyle/>
              <a:p>
                <a:pPr indent="0" lvl="0" marL="0" rtl="1" algn="ctr">
                  <a:spcBef>
                    <a:spcPts val="0"/>
                  </a:spcBef>
                  <a:spcAft>
                    <a:spcPts val="0"/>
                  </a:spcAft>
                  <a:buNone/>
                </a:pPr>
                <a:r>
                  <a:rPr lang="en" sz="2200">
                    <a:solidFill>
                      <a:srgbClr val="032341"/>
                    </a:solidFill>
                    <a:latin typeface="IBM Plex Sans Arabic Medium"/>
                    <a:ea typeface="IBM Plex Sans Arabic Medium"/>
                    <a:cs typeface="IBM Plex Sans Arabic Medium"/>
                    <a:sym typeface="IBM Plex Sans Arabic Medium"/>
                  </a:rPr>
                  <a:t>14</a:t>
                </a:r>
                <a:endParaRPr sz="2200">
                  <a:solidFill>
                    <a:srgbClr val="032341"/>
                  </a:solidFill>
                  <a:latin typeface="IBM Plex Sans Arabic Medium"/>
                  <a:ea typeface="IBM Plex Sans Arabic Medium"/>
                  <a:cs typeface="IBM Plex Sans Arabic Medium"/>
                  <a:sym typeface="IBM Plex Sans Arabic Medium"/>
                </a:endParaRPr>
              </a:p>
            </p:txBody>
          </p:sp>
          <p:sp>
            <p:nvSpPr>
              <p:cNvPr id="135" name="Google Shape;135;p17"/>
              <p:cNvSpPr txBox="1"/>
              <p:nvPr/>
            </p:nvSpPr>
            <p:spPr>
              <a:xfrm>
                <a:off x="5915913" y="2315500"/>
                <a:ext cx="1218000" cy="42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rgbClr val="C36B4E"/>
                    </a:solidFill>
                    <a:latin typeface="IBM Plex Sans Arabic"/>
                    <a:ea typeface="IBM Plex Sans Arabic"/>
                    <a:cs typeface="IBM Plex Sans Arabic"/>
                    <a:sym typeface="IBM Plex Sans Arabic"/>
                  </a:rPr>
                  <a:t>جهة سعودية</a:t>
                </a:r>
                <a:endParaRPr sz="1500">
                  <a:solidFill>
                    <a:srgbClr val="C36B4E"/>
                  </a:solidFill>
                  <a:latin typeface="IBM Plex Sans Arabic"/>
                  <a:ea typeface="IBM Plex Sans Arabic"/>
                  <a:cs typeface="IBM Plex Sans Arabic"/>
                  <a:sym typeface="IBM Plex Sans Arabic"/>
                </a:endParaRPr>
              </a:p>
              <a:p>
                <a:pPr indent="0" lvl="0" marL="0" rtl="1" algn="r">
                  <a:spcBef>
                    <a:spcPts val="0"/>
                  </a:spcBef>
                  <a:spcAft>
                    <a:spcPts val="0"/>
                  </a:spcAft>
                  <a:buNone/>
                </a:pPr>
                <a:r>
                  <a:t/>
                </a:r>
                <a:endParaRPr sz="1300">
                  <a:solidFill>
                    <a:srgbClr val="C36B4E"/>
                  </a:solidFill>
                  <a:latin typeface="IBM Plex Sans Arabic Medium"/>
                  <a:ea typeface="IBM Plex Sans Arabic Medium"/>
                  <a:cs typeface="IBM Plex Sans Arabic Medium"/>
                  <a:sym typeface="IBM Plex Sans Arabic Medium"/>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pic>
        <p:nvPicPr>
          <p:cNvPr id="140" name="Google Shape;140;p18" title="Untitled-30.png"/>
          <p:cNvPicPr preferRelativeResize="0"/>
          <p:nvPr/>
        </p:nvPicPr>
        <p:blipFill>
          <a:blip r:embed="rId4">
            <a:alphaModFix/>
          </a:blip>
          <a:stretch>
            <a:fillRect/>
          </a:stretch>
        </p:blipFill>
        <p:spPr>
          <a:xfrm>
            <a:off x="297075" y="178150"/>
            <a:ext cx="829250" cy="829250"/>
          </a:xfrm>
          <a:prstGeom prst="rect">
            <a:avLst/>
          </a:prstGeom>
          <a:noFill/>
          <a:ln>
            <a:noFill/>
          </a:ln>
        </p:spPr>
      </p:pic>
      <p:sp>
        <p:nvSpPr>
          <p:cNvPr id="141" name="Google Shape;141;p18"/>
          <p:cNvSpPr txBox="1"/>
          <p:nvPr/>
        </p:nvSpPr>
        <p:spPr>
          <a:xfrm>
            <a:off x="5006100" y="833150"/>
            <a:ext cx="3451500" cy="5727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b="1" lang="en" sz="2800">
                <a:solidFill>
                  <a:srgbClr val="032341"/>
                </a:solidFill>
                <a:latin typeface="IBM Plex Sans Arabic"/>
                <a:ea typeface="IBM Plex Sans Arabic"/>
                <a:cs typeface="IBM Plex Sans Arabic"/>
                <a:sym typeface="IBM Plex Sans Arabic"/>
              </a:rPr>
              <a:t>التقنيات المستخدمة</a:t>
            </a:r>
            <a:endParaRPr sz="2500">
              <a:solidFill>
                <a:srgbClr val="032341"/>
              </a:solidFill>
              <a:latin typeface="IBM Plex Sans Arabic"/>
              <a:ea typeface="IBM Plex Sans Arabic"/>
              <a:cs typeface="IBM Plex Sans Arabic"/>
              <a:sym typeface="IBM Plex Sans Arabic"/>
            </a:endParaRPr>
          </a:p>
        </p:txBody>
      </p:sp>
      <p:grpSp>
        <p:nvGrpSpPr>
          <p:cNvPr id="142" name="Google Shape;142;p18"/>
          <p:cNvGrpSpPr/>
          <p:nvPr/>
        </p:nvGrpSpPr>
        <p:grpSpPr>
          <a:xfrm>
            <a:off x="577925" y="1668450"/>
            <a:ext cx="7747650" cy="782153"/>
            <a:chOff x="568500" y="1696725"/>
            <a:chExt cx="7747650" cy="782153"/>
          </a:xfrm>
        </p:grpSpPr>
        <p:grpSp>
          <p:nvGrpSpPr>
            <p:cNvPr id="143" name="Google Shape;143;p18"/>
            <p:cNvGrpSpPr/>
            <p:nvPr/>
          </p:nvGrpSpPr>
          <p:grpSpPr>
            <a:xfrm>
              <a:off x="4572000" y="1696725"/>
              <a:ext cx="3744150" cy="782153"/>
              <a:chOff x="4477700" y="1666162"/>
              <a:chExt cx="3744150" cy="782153"/>
            </a:xfrm>
          </p:grpSpPr>
          <p:sp>
            <p:nvSpPr>
              <p:cNvPr id="144" name="Google Shape;144;p18"/>
              <p:cNvSpPr txBox="1"/>
              <p:nvPr/>
            </p:nvSpPr>
            <p:spPr>
              <a:xfrm>
                <a:off x="4477700" y="1675815"/>
                <a:ext cx="3166500" cy="7725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0"/>
                  </a:spcAft>
                  <a:buNone/>
                </a:pPr>
                <a:r>
                  <a:rPr lang="en" sz="1100">
                    <a:solidFill>
                      <a:srgbClr val="032341"/>
                    </a:solidFill>
                    <a:latin typeface="IBM Plex Sans Arabic"/>
                    <a:ea typeface="IBM Plex Sans Arabic"/>
                    <a:cs typeface="IBM Plex Sans Arabic"/>
                    <a:sym typeface="IBM Plex Sans Arabic"/>
                  </a:rPr>
                  <a:t>إضافة فوق أنظمة الإنماء القائمة — لا نظام جديد. تقرأ المصرفية المفتوحة والأجهزة الموثوقة. نقرأ من النظام، ولا نكتب فيه.</a:t>
                </a:r>
                <a:endParaRPr sz="1100">
                  <a:solidFill>
                    <a:srgbClr val="032341"/>
                  </a:solidFill>
                  <a:latin typeface="IBM Plex Sans Arabic"/>
                  <a:ea typeface="IBM Plex Sans Arabic"/>
                  <a:cs typeface="IBM Plex Sans Arabic"/>
                  <a:sym typeface="IBM Plex Sans Arabic"/>
                </a:endParaRPr>
              </a:p>
            </p:txBody>
          </p:sp>
          <p:grpSp>
            <p:nvGrpSpPr>
              <p:cNvPr id="145" name="Google Shape;145;p18"/>
              <p:cNvGrpSpPr/>
              <p:nvPr/>
            </p:nvGrpSpPr>
            <p:grpSpPr>
              <a:xfrm>
                <a:off x="7736725" y="1666162"/>
                <a:ext cx="485125" cy="639431"/>
                <a:chOff x="7753313" y="2059231"/>
                <a:chExt cx="485125" cy="639431"/>
              </a:xfrm>
            </p:grpSpPr>
            <p:pic>
              <p:nvPicPr>
                <p:cNvPr id="146" name="Google Shape;146;p18" title="Untitled-54.png"/>
                <p:cNvPicPr preferRelativeResize="0"/>
                <p:nvPr/>
              </p:nvPicPr>
              <p:blipFill>
                <a:blip r:embed="rId5">
                  <a:alphaModFix/>
                </a:blip>
                <a:stretch>
                  <a:fillRect/>
                </a:stretch>
              </p:blipFill>
              <p:spPr>
                <a:xfrm>
                  <a:off x="7801650" y="2310188"/>
                  <a:ext cx="388475" cy="388475"/>
                </a:xfrm>
                <a:prstGeom prst="rect">
                  <a:avLst/>
                </a:prstGeom>
                <a:noFill/>
                <a:ln>
                  <a:noFill/>
                </a:ln>
              </p:spPr>
            </p:pic>
            <p:pic>
              <p:nvPicPr>
                <p:cNvPr id="147" name="Google Shape;147;p18" title="idea.png"/>
                <p:cNvPicPr preferRelativeResize="0"/>
                <p:nvPr/>
              </p:nvPicPr>
              <p:blipFill>
                <a:blip r:embed="rId6">
                  <a:alphaModFix/>
                </a:blip>
                <a:stretch>
                  <a:fillRect/>
                </a:stretch>
              </p:blipFill>
              <p:spPr>
                <a:xfrm>
                  <a:off x="7753313" y="2059231"/>
                  <a:ext cx="485125" cy="485125"/>
                </a:xfrm>
                <a:prstGeom prst="rect">
                  <a:avLst/>
                </a:prstGeom>
                <a:noFill/>
                <a:ln>
                  <a:noFill/>
                </a:ln>
              </p:spPr>
            </p:pic>
          </p:grpSp>
        </p:grpSp>
        <p:grpSp>
          <p:nvGrpSpPr>
            <p:cNvPr id="148" name="Google Shape;148;p18"/>
            <p:cNvGrpSpPr/>
            <p:nvPr/>
          </p:nvGrpSpPr>
          <p:grpSpPr>
            <a:xfrm>
              <a:off x="568500" y="1696725"/>
              <a:ext cx="3744150" cy="782153"/>
              <a:chOff x="4477700" y="1666162"/>
              <a:chExt cx="3744150" cy="782153"/>
            </a:xfrm>
          </p:grpSpPr>
          <p:sp>
            <p:nvSpPr>
              <p:cNvPr id="149" name="Google Shape;149;p18"/>
              <p:cNvSpPr txBox="1"/>
              <p:nvPr/>
            </p:nvSpPr>
            <p:spPr>
              <a:xfrm>
                <a:off x="4477700" y="1675815"/>
                <a:ext cx="3166500" cy="7725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0"/>
                  </a:spcAft>
                  <a:buNone/>
                </a:pPr>
                <a:r>
                  <a:rPr lang="en" sz="1100">
                    <a:solidFill>
                      <a:srgbClr val="032341"/>
                    </a:solidFill>
                    <a:latin typeface="IBM Plex Sans Arabic"/>
                    <a:ea typeface="IBM Plex Sans Arabic"/>
                    <a:cs typeface="IBM Plex Sans Arabic"/>
                    <a:sym typeface="IBM Plex Sans Arabic"/>
                  </a:rPr>
                  <a:t>محرك قواعد واضح تقدر تدقّقه — لا صندوق أسود. أربعة عوامل، كلٌّ منها يُقاس بعادات هذا العميل: مبلغه، ومستفيده الجديد، وجهازه، وأوقاته.</a:t>
                </a:r>
                <a:endParaRPr sz="1100">
                  <a:solidFill>
                    <a:srgbClr val="032341"/>
                  </a:solidFill>
                  <a:latin typeface="IBM Plex Sans Arabic"/>
                  <a:ea typeface="IBM Plex Sans Arabic"/>
                  <a:cs typeface="IBM Plex Sans Arabic"/>
                  <a:sym typeface="IBM Plex Sans Arabic"/>
                </a:endParaRPr>
              </a:p>
            </p:txBody>
          </p:sp>
          <p:grpSp>
            <p:nvGrpSpPr>
              <p:cNvPr id="150" name="Google Shape;150;p18"/>
              <p:cNvGrpSpPr/>
              <p:nvPr/>
            </p:nvGrpSpPr>
            <p:grpSpPr>
              <a:xfrm>
                <a:off x="7736725" y="1666162"/>
                <a:ext cx="485125" cy="639431"/>
                <a:chOff x="7753313" y="2059231"/>
                <a:chExt cx="485125" cy="639431"/>
              </a:xfrm>
            </p:grpSpPr>
            <p:pic>
              <p:nvPicPr>
                <p:cNvPr id="151" name="Google Shape;151;p18" title="Untitled-54.png"/>
                <p:cNvPicPr preferRelativeResize="0"/>
                <p:nvPr/>
              </p:nvPicPr>
              <p:blipFill>
                <a:blip r:embed="rId5">
                  <a:alphaModFix/>
                </a:blip>
                <a:stretch>
                  <a:fillRect/>
                </a:stretch>
              </p:blipFill>
              <p:spPr>
                <a:xfrm>
                  <a:off x="7801650" y="2310188"/>
                  <a:ext cx="388475" cy="388475"/>
                </a:xfrm>
                <a:prstGeom prst="rect">
                  <a:avLst/>
                </a:prstGeom>
                <a:noFill/>
                <a:ln>
                  <a:noFill/>
                </a:ln>
              </p:spPr>
            </p:pic>
            <p:pic>
              <p:nvPicPr>
                <p:cNvPr id="152" name="Google Shape;152;p18" title="idea.png"/>
                <p:cNvPicPr preferRelativeResize="0"/>
                <p:nvPr/>
              </p:nvPicPr>
              <p:blipFill>
                <a:blip r:embed="rId6">
                  <a:alphaModFix/>
                </a:blip>
                <a:stretch>
                  <a:fillRect/>
                </a:stretch>
              </p:blipFill>
              <p:spPr>
                <a:xfrm>
                  <a:off x="7753313" y="2059231"/>
                  <a:ext cx="485125" cy="485125"/>
                </a:xfrm>
                <a:prstGeom prst="rect">
                  <a:avLst/>
                </a:prstGeom>
                <a:noFill/>
                <a:ln>
                  <a:noFill/>
                </a:ln>
              </p:spPr>
            </p:pic>
          </p:grpSp>
        </p:grpSp>
      </p:grpSp>
      <p:grpSp>
        <p:nvGrpSpPr>
          <p:cNvPr id="153" name="Google Shape;153;p18"/>
          <p:cNvGrpSpPr/>
          <p:nvPr/>
        </p:nvGrpSpPr>
        <p:grpSpPr>
          <a:xfrm>
            <a:off x="577925" y="2754437"/>
            <a:ext cx="7747650" cy="782153"/>
            <a:chOff x="568500" y="2782712"/>
            <a:chExt cx="7747650" cy="782153"/>
          </a:xfrm>
        </p:grpSpPr>
        <p:grpSp>
          <p:nvGrpSpPr>
            <p:cNvPr id="154" name="Google Shape;154;p18"/>
            <p:cNvGrpSpPr/>
            <p:nvPr/>
          </p:nvGrpSpPr>
          <p:grpSpPr>
            <a:xfrm>
              <a:off x="4572000" y="2782712"/>
              <a:ext cx="3744150" cy="782153"/>
              <a:chOff x="4477700" y="1666162"/>
              <a:chExt cx="3744150" cy="782153"/>
            </a:xfrm>
          </p:grpSpPr>
          <p:sp>
            <p:nvSpPr>
              <p:cNvPr id="155" name="Google Shape;155;p18"/>
              <p:cNvSpPr txBox="1"/>
              <p:nvPr/>
            </p:nvSpPr>
            <p:spPr>
              <a:xfrm>
                <a:off x="4477700" y="1675815"/>
                <a:ext cx="3166500" cy="7725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0"/>
                  </a:spcAft>
                  <a:buNone/>
                </a:pPr>
                <a:r>
                  <a:rPr lang="en" sz="1100">
                    <a:solidFill>
                      <a:srgbClr val="032341"/>
                    </a:solidFill>
                    <a:latin typeface="IBM Plex Sans Arabic"/>
                    <a:ea typeface="IBM Plex Sans Arabic"/>
                    <a:cs typeface="IBM Plex Sans Arabic"/>
                    <a:sym typeface="IBM Plex Sans Arabic"/>
                  </a:rPr>
                  <a:t>لا قاعدة على الجميع: نفس الـ5,200 ريال — عميل يضيف مستفيداً مرة في السنة نطلب منه تأكيداً، وعميل يضيفه كل شهر تمرّ حوالته بلا سؤال.</a:t>
                </a:r>
                <a:endParaRPr sz="1100">
                  <a:solidFill>
                    <a:srgbClr val="032341"/>
                  </a:solidFill>
                  <a:latin typeface="IBM Plex Sans Arabic"/>
                  <a:ea typeface="IBM Plex Sans Arabic"/>
                  <a:cs typeface="IBM Plex Sans Arabic"/>
                  <a:sym typeface="IBM Plex Sans Arabic"/>
                </a:endParaRPr>
              </a:p>
            </p:txBody>
          </p:sp>
          <p:grpSp>
            <p:nvGrpSpPr>
              <p:cNvPr id="156" name="Google Shape;156;p18"/>
              <p:cNvGrpSpPr/>
              <p:nvPr/>
            </p:nvGrpSpPr>
            <p:grpSpPr>
              <a:xfrm>
                <a:off x="7736725" y="1666162"/>
                <a:ext cx="485125" cy="639431"/>
                <a:chOff x="7753313" y="2059231"/>
                <a:chExt cx="485125" cy="639431"/>
              </a:xfrm>
            </p:grpSpPr>
            <p:pic>
              <p:nvPicPr>
                <p:cNvPr id="157" name="Google Shape;157;p18" title="Untitled-54.png"/>
                <p:cNvPicPr preferRelativeResize="0"/>
                <p:nvPr/>
              </p:nvPicPr>
              <p:blipFill>
                <a:blip r:embed="rId5">
                  <a:alphaModFix/>
                </a:blip>
                <a:stretch>
                  <a:fillRect/>
                </a:stretch>
              </p:blipFill>
              <p:spPr>
                <a:xfrm>
                  <a:off x="7801650" y="2310188"/>
                  <a:ext cx="388475" cy="388475"/>
                </a:xfrm>
                <a:prstGeom prst="rect">
                  <a:avLst/>
                </a:prstGeom>
                <a:noFill/>
                <a:ln>
                  <a:noFill/>
                </a:ln>
              </p:spPr>
            </p:pic>
            <p:pic>
              <p:nvPicPr>
                <p:cNvPr id="158" name="Google Shape;158;p18" title="idea.png"/>
                <p:cNvPicPr preferRelativeResize="0"/>
                <p:nvPr/>
              </p:nvPicPr>
              <p:blipFill>
                <a:blip r:embed="rId6">
                  <a:alphaModFix/>
                </a:blip>
                <a:stretch>
                  <a:fillRect/>
                </a:stretch>
              </p:blipFill>
              <p:spPr>
                <a:xfrm>
                  <a:off x="7753313" y="2059231"/>
                  <a:ext cx="485125" cy="485125"/>
                </a:xfrm>
                <a:prstGeom prst="rect">
                  <a:avLst/>
                </a:prstGeom>
                <a:noFill/>
                <a:ln>
                  <a:noFill/>
                </a:ln>
              </p:spPr>
            </p:pic>
          </p:grpSp>
        </p:grpSp>
        <p:grpSp>
          <p:nvGrpSpPr>
            <p:cNvPr id="159" name="Google Shape;159;p18"/>
            <p:cNvGrpSpPr/>
            <p:nvPr/>
          </p:nvGrpSpPr>
          <p:grpSpPr>
            <a:xfrm>
              <a:off x="568500" y="2782712"/>
              <a:ext cx="3744150" cy="782153"/>
              <a:chOff x="4477700" y="1666162"/>
              <a:chExt cx="3744150" cy="782153"/>
            </a:xfrm>
          </p:grpSpPr>
          <p:sp>
            <p:nvSpPr>
              <p:cNvPr id="160" name="Google Shape;160;p18"/>
              <p:cNvSpPr txBox="1"/>
              <p:nvPr/>
            </p:nvSpPr>
            <p:spPr>
              <a:xfrm>
                <a:off x="4477700" y="1675815"/>
                <a:ext cx="3166500" cy="7725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0"/>
                  </a:spcAft>
                  <a:buNone/>
                </a:pPr>
                <a:r>
                  <a:rPr lang="en" sz="1100">
                    <a:solidFill>
                      <a:srgbClr val="032341"/>
                    </a:solidFill>
                    <a:latin typeface="IBM Plex Sans Arabic"/>
                    <a:ea typeface="IBM Plex Sans Arabic"/>
                    <a:cs typeface="IBM Plex Sans Arabic"/>
                    <a:sym typeface="IBM Plex Sans Arabic"/>
                  </a:rPr>
                  <a:t>حدّ كَفيت — وهو التموضع كله: نظام الحماية صاحب القرار. كَفيت ما يلغي حجزاً، ولا يفتح عمليةً أوقفها النظام. يقرّر شيئاً واحداً: كم خطوة تحقّق يطلبها منك — أقل لا أكثر، وفوق حدّ ساما.</a:t>
                </a:r>
                <a:endParaRPr sz="1100">
                  <a:solidFill>
                    <a:srgbClr val="032341"/>
                  </a:solidFill>
                  <a:latin typeface="IBM Plex Sans Arabic"/>
                  <a:ea typeface="IBM Plex Sans Arabic"/>
                  <a:cs typeface="IBM Plex Sans Arabic"/>
                  <a:sym typeface="IBM Plex Sans Arabic"/>
                </a:endParaRPr>
              </a:p>
            </p:txBody>
          </p:sp>
          <p:grpSp>
            <p:nvGrpSpPr>
              <p:cNvPr id="161" name="Google Shape;161;p18"/>
              <p:cNvGrpSpPr/>
              <p:nvPr/>
            </p:nvGrpSpPr>
            <p:grpSpPr>
              <a:xfrm>
                <a:off x="7736725" y="1666162"/>
                <a:ext cx="485125" cy="639431"/>
                <a:chOff x="7753313" y="2059231"/>
                <a:chExt cx="485125" cy="639431"/>
              </a:xfrm>
            </p:grpSpPr>
            <p:pic>
              <p:nvPicPr>
                <p:cNvPr id="162" name="Google Shape;162;p18" title="Untitled-54.png"/>
                <p:cNvPicPr preferRelativeResize="0"/>
                <p:nvPr/>
              </p:nvPicPr>
              <p:blipFill>
                <a:blip r:embed="rId5">
                  <a:alphaModFix/>
                </a:blip>
                <a:stretch>
                  <a:fillRect/>
                </a:stretch>
              </p:blipFill>
              <p:spPr>
                <a:xfrm>
                  <a:off x="7801650" y="2310188"/>
                  <a:ext cx="388475" cy="388475"/>
                </a:xfrm>
                <a:prstGeom prst="rect">
                  <a:avLst/>
                </a:prstGeom>
                <a:noFill/>
                <a:ln>
                  <a:noFill/>
                </a:ln>
              </p:spPr>
            </p:pic>
            <p:pic>
              <p:nvPicPr>
                <p:cNvPr id="163" name="Google Shape;163;p18" title="idea.png"/>
                <p:cNvPicPr preferRelativeResize="0"/>
                <p:nvPr/>
              </p:nvPicPr>
              <p:blipFill>
                <a:blip r:embed="rId6">
                  <a:alphaModFix/>
                </a:blip>
                <a:stretch>
                  <a:fillRect/>
                </a:stretch>
              </p:blipFill>
              <p:spPr>
                <a:xfrm>
                  <a:off x="7753313" y="2059231"/>
                  <a:ext cx="485125" cy="485125"/>
                </a:xfrm>
                <a:prstGeom prst="rect">
                  <a:avLst/>
                </a:prstGeom>
                <a:noFill/>
                <a:ln>
                  <a:noFill/>
                </a:ln>
              </p:spPr>
            </p:pic>
          </p:grpSp>
        </p:grpSp>
      </p:grpSp>
      <p:grpSp>
        <p:nvGrpSpPr>
          <p:cNvPr id="164" name="Google Shape;164;p18"/>
          <p:cNvGrpSpPr/>
          <p:nvPr/>
        </p:nvGrpSpPr>
        <p:grpSpPr>
          <a:xfrm>
            <a:off x="577925" y="3840425"/>
            <a:ext cx="7747650" cy="782153"/>
            <a:chOff x="568500" y="3868700"/>
            <a:chExt cx="7747650" cy="782153"/>
          </a:xfrm>
        </p:grpSpPr>
        <p:grpSp>
          <p:nvGrpSpPr>
            <p:cNvPr id="165" name="Google Shape;165;p18"/>
            <p:cNvGrpSpPr/>
            <p:nvPr/>
          </p:nvGrpSpPr>
          <p:grpSpPr>
            <a:xfrm>
              <a:off x="4572000" y="3868700"/>
              <a:ext cx="3744150" cy="782153"/>
              <a:chOff x="4477700" y="1666162"/>
              <a:chExt cx="3744150" cy="782153"/>
            </a:xfrm>
          </p:grpSpPr>
          <p:sp>
            <p:nvSpPr>
              <p:cNvPr id="166" name="Google Shape;166;p18"/>
              <p:cNvSpPr txBox="1"/>
              <p:nvPr/>
            </p:nvSpPr>
            <p:spPr>
              <a:xfrm>
                <a:off x="4477700" y="1675815"/>
                <a:ext cx="3166500" cy="7725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0"/>
                  </a:spcAft>
                  <a:buNone/>
                </a:pPr>
                <a:r>
                  <a:rPr lang="en" sz="1100">
                    <a:solidFill>
                      <a:srgbClr val="032341"/>
                    </a:solidFill>
                    <a:latin typeface="IBM Plex Sans Arabic"/>
                    <a:ea typeface="IBM Plex Sans Arabic"/>
                    <a:cs typeface="IBM Plex Sans Arabic"/>
                    <a:sym typeface="IBM Plex Sans Arabic"/>
                  </a:rPr>
                  <a:t>شاشتان: العميل يرى السبب بلا أرقام. والأرقام كاملة في «شاشة فريق البنك» — للجنة وساما. العميل يفهم · المحتال ما يتعلّم · فريق البنك يشوف كل شي.</a:t>
                </a:r>
                <a:endParaRPr sz="1100">
                  <a:solidFill>
                    <a:srgbClr val="032341"/>
                  </a:solidFill>
                  <a:latin typeface="IBM Plex Sans Arabic"/>
                  <a:ea typeface="IBM Plex Sans Arabic"/>
                  <a:cs typeface="IBM Plex Sans Arabic"/>
                  <a:sym typeface="IBM Plex Sans Arabic"/>
                </a:endParaRPr>
              </a:p>
            </p:txBody>
          </p:sp>
          <p:grpSp>
            <p:nvGrpSpPr>
              <p:cNvPr id="167" name="Google Shape;167;p18"/>
              <p:cNvGrpSpPr/>
              <p:nvPr/>
            </p:nvGrpSpPr>
            <p:grpSpPr>
              <a:xfrm>
                <a:off x="7736725" y="1666162"/>
                <a:ext cx="485125" cy="639431"/>
                <a:chOff x="7753313" y="2059231"/>
                <a:chExt cx="485125" cy="639431"/>
              </a:xfrm>
            </p:grpSpPr>
            <p:pic>
              <p:nvPicPr>
                <p:cNvPr id="168" name="Google Shape;168;p18" title="Untitled-54.png"/>
                <p:cNvPicPr preferRelativeResize="0"/>
                <p:nvPr/>
              </p:nvPicPr>
              <p:blipFill>
                <a:blip r:embed="rId5">
                  <a:alphaModFix/>
                </a:blip>
                <a:stretch>
                  <a:fillRect/>
                </a:stretch>
              </p:blipFill>
              <p:spPr>
                <a:xfrm>
                  <a:off x="7801650" y="2310188"/>
                  <a:ext cx="388475" cy="388475"/>
                </a:xfrm>
                <a:prstGeom prst="rect">
                  <a:avLst/>
                </a:prstGeom>
                <a:noFill/>
                <a:ln>
                  <a:noFill/>
                </a:ln>
              </p:spPr>
            </p:pic>
            <p:pic>
              <p:nvPicPr>
                <p:cNvPr id="169" name="Google Shape;169;p18" title="idea.png"/>
                <p:cNvPicPr preferRelativeResize="0"/>
                <p:nvPr/>
              </p:nvPicPr>
              <p:blipFill>
                <a:blip r:embed="rId6">
                  <a:alphaModFix/>
                </a:blip>
                <a:stretch>
                  <a:fillRect/>
                </a:stretch>
              </p:blipFill>
              <p:spPr>
                <a:xfrm>
                  <a:off x="7753313" y="2059231"/>
                  <a:ext cx="485125" cy="485125"/>
                </a:xfrm>
                <a:prstGeom prst="rect">
                  <a:avLst/>
                </a:prstGeom>
                <a:noFill/>
                <a:ln>
                  <a:noFill/>
                </a:ln>
              </p:spPr>
            </p:pic>
          </p:grpSp>
        </p:grpSp>
        <p:grpSp>
          <p:nvGrpSpPr>
            <p:cNvPr id="170" name="Google Shape;170;p18"/>
            <p:cNvGrpSpPr/>
            <p:nvPr/>
          </p:nvGrpSpPr>
          <p:grpSpPr>
            <a:xfrm>
              <a:off x="568500" y="3868700"/>
              <a:ext cx="3744150" cy="782153"/>
              <a:chOff x="4477700" y="1666162"/>
              <a:chExt cx="3744150" cy="782153"/>
            </a:xfrm>
          </p:grpSpPr>
          <p:sp>
            <p:nvSpPr>
              <p:cNvPr id="171" name="Google Shape;171;p18"/>
              <p:cNvSpPr txBox="1"/>
              <p:nvPr/>
            </p:nvSpPr>
            <p:spPr>
              <a:xfrm>
                <a:off x="4477700" y="1675815"/>
                <a:ext cx="3166500" cy="7725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0"/>
                  </a:spcAft>
                  <a:buNone/>
                </a:pPr>
                <a:r>
                  <a:rPr lang="en" sz="1100">
                    <a:solidFill>
                      <a:srgbClr val="032341"/>
                    </a:solidFill>
                    <a:latin typeface="IBM Plex Sans Arabic"/>
                    <a:ea typeface="IBM Plex Sans Arabic"/>
                    <a:cs typeface="IBM Plex Sans Arabic"/>
                    <a:sym typeface="IBM Plex Sans Arabic"/>
                  </a:rPr>
                  <a:t>الأوزان واضحة، ما نخفيها: المبلغ 1.00 والمستفيد 0.65 وسقف الخصم 22. ضبطناها يدوياً اليوم، ونعايرها على بيانات احتيال حقيقية في المرحلة الأولى. وتكبر بعدها لنماذج سلوكية مثل Feedzai و BioCatch.</a:t>
                </a:r>
                <a:endParaRPr sz="1100">
                  <a:solidFill>
                    <a:srgbClr val="032341"/>
                  </a:solidFill>
                  <a:latin typeface="IBM Plex Sans Arabic"/>
                  <a:ea typeface="IBM Plex Sans Arabic"/>
                  <a:cs typeface="IBM Plex Sans Arabic"/>
                  <a:sym typeface="IBM Plex Sans Arabic"/>
                </a:endParaRPr>
              </a:p>
            </p:txBody>
          </p:sp>
          <p:grpSp>
            <p:nvGrpSpPr>
              <p:cNvPr id="172" name="Google Shape;172;p18"/>
              <p:cNvGrpSpPr/>
              <p:nvPr/>
            </p:nvGrpSpPr>
            <p:grpSpPr>
              <a:xfrm>
                <a:off x="7736725" y="1666162"/>
                <a:ext cx="485125" cy="639431"/>
                <a:chOff x="7753313" y="2059231"/>
                <a:chExt cx="485125" cy="639431"/>
              </a:xfrm>
            </p:grpSpPr>
            <p:pic>
              <p:nvPicPr>
                <p:cNvPr id="173" name="Google Shape;173;p18" title="Untitled-54.png"/>
                <p:cNvPicPr preferRelativeResize="0"/>
                <p:nvPr/>
              </p:nvPicPr>
              <p:blipFill>
                <a:blip r:embed="rId5">
                  <a:alphaModFix/>
                </a:blip>
                <a:stretch>
                  <a:fillRect/>
                </a:stretch>
              </p:blipFill>
              <p:spPr>
                <a:xfrm>
                  <a:off x="7801650" y="2310188"/>
                  <a:ext cx="388475" cy="388475"/>
                </a:xfrm>
                <a:prstGeom prst="rect">
                  <a:avLst/>
                </a:prstGeom>
                <a:noFill/>
                <a:ln>
                  <a:noFill/>
                </a:ln>
              </p:spPr>
            </p:pic>
            <p:pic>
              <p:nvPicPr>
                <p:cNvPr id="174" name="Google Shape;174;p18" title="idea.png"/>
                <p:cNvPicPr preferRelativeResize="0"/>
                <p:nvPr/>
              </p:nvPicPr>
              <p:blipFill>
                <a:blip r:embed="rId6">
                  <a:alphaModFix/>
                </a:blip>
                <a:stretch>
                  <a:fillRect/>
                </a:stretch>
              </p:blipFill>
              <p:spPr>
                <a:xfrm>
                  <a:off x="7753313" y="2059231"/>
                  <a:ext cx="485125" cy="485125"/>
                </a:xfrm>
                <a:prstGeom prst="rect">
                  <a:avLst/>
                </a:prstGeom>
                <a:noFill/>
                <a:ln>
                  <a:noFill/>
                </a:ln>
              </p:spPr>
            </p:pic>
          </p:gr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 name="Shape 178"/>
        <p:cNvGrpSpPr/>
        <p:nvPr/>
      </p:nvGrpSpPr>
      <p:grpSpPr>
        <a:xfrm>
          <a:off x="0" y="0"/>
          <a:ext cx="0" cy="0"/>
          <a:chOff x="0" y="0"/>
          <a:chExt cx="0" cy="0"/>
        </a:xfrm>
      </p:grpSpPr>
      <p:pic>
        <p:nvPicPr>
          <p:cNvPr id="179" name="Google Shape;179;p19" title="Untitled-30.png"/>
          <p:cNvPicPr preferRelativeResize="0"/>
          <p:nvPr/>
        </p:nvPicPr>
        <p:blipFill>
          <a:blip r:embed="rId4">
            <a:alphaModFix/>
          </a:blip>
          <a:stretch>
            <a:fillRect/>
          </a:stretch>
        </p:blipFill>
        <p:spPr>
          <a:xfrm>
            <a:off x="297075" y="178150"/>
            <a:ext cx="829250" cy="829250"/>
          </a:xfrm>
          <a:prstGeom prst="rect">
            <a:avLst/>
          </a:prstGeom>
          <a:noFill/>
          <a:ln>
            <a:noFill/>
          </a:ln>
        </p:spPr>
      </p:pic>
      <p:pic>
        <p:nvPicPr>
          <p:cNvPr id="180" name="Google Shape;180;p19" title="shutterstock_452767891.jpg"/>
          <p:cNvPicPr preferRelativeResize="0"/>
          <p:nvPr/>
        </p:nvPicPr>
        <p:blipFill rotWithShape="1">
          <a:blip r:embed="rId5">
            <a:alphaModFix/>
          </a:blip>
          <a:srcRect b="2220" l="10670" r="56019" t="0"/>
          <a:stretch/>
        </p:blipFill>
        <p:spPr>
          <a:xfrm>
            <a:off x="6449217" y="0"/>
            <a:ext cx="2694784" cy="5143501"/>
          </a:xfrm>
          <a:prstGeom prst="rect">
            <a:avLst/>
          </a:prstGeom>
          <a:solidFill>
            <a:srgbClr val="C36B4E"/>
          </a:solidFill>
          <a:ln>
            <a:noFill/>
          </a:ln>
        </p:spPr>
      </p:pic>
      <p:pic>
        <p:nvPicPr>
          <p:cNvPr id="181" name="Google Shape;181;p19" title="shutterstock_2308548581.png"/>
          <p:cNvPicPr preferRelativeResize="0"/>
          <p:nvPr/>
        </p:nvPicPr>
        <p:blipFill rotWithShape="1">
          <a:blip r:embed="rId6">
            <a:alphaModFix/>
          </a:blip>
          <a:srcRect b="7570" l="0" r="0" t="0"/>
          <a:stretch/>
        </p:blipFill>
        <p:spPr>
          <a:xfrm>
            <a:off x="6935125" y="671075"/>
            <a:ext cx="1901925" cy="4472428"/>
          </a:xfrm>
          <a:prstGeom prst="rect">
            <a:avLst/>
          </a:prstGeom>
          <a:noFill/>
          <a:ln>
            <a:noFill/>
          </a:ln>
        </p:spPr>
      </p:pic>
      <p:sp>
        <p:nvSpPr>
          <p:cNvPr id="182" name="Google Shape;182;p19"/>
          <p:cNvSpPr txBox="1"/>
          <p:nvPr/>
        </p:nvSpPr>
        <p:spPr>
          <a:xfrm>
            <a:off x="2387786" y="2557563"/>
            <a:ext cx="3098400" cy="13125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0"/>
              </a:spcBef>
              <a:spcAft>
                <a:spcPts val="0"/>
              </a:spcAft>
              <a:buNone/>
            </a:pPr>
            <a:r>
              <a:rPr lang="en" sz="1200">
                <a:solidFill>
                  <a:srgbClr val="C36B4E"/>
                </a:solidFill>
                <a:latin typeface="IBM Plex Sans Arabic"/>
                <a:ea typeface="IBM Plex Sans Arabic"/>
                <a:cs typeface="IBM Plex Sans Arabic"/>
                <a:sym typeface="IBM Plex Sans Arabic"/>
              </a:rPr>
              <a:t>اليوم: يوقف البنك عمليتك، أو يحجز مبلغك، أو يطلب توثيقاً — ويصلك رمز خطأ أو صمت. وحتى الموظف ما يعرف السبب. كَفيت يكسر هذا الصمت: يعرف عاداتك، فيطلب منك خطوات تحقّق أقل بدل إيقاف حسابك، ثم يرسل لك سبب القرار وخطوتك. ويحفظ الحالة في سجل واحد ينتقل معك لأي قناة، فما تعيد قصتك. البنوك تخصّص ما تراه؛ كَفيت يخصّص كيف يتعامل البنك معك — ثم يشرحه لك.</a:t>
            </a:r>
            <a:endParaRPr sz="1200">
              <a:solidFill>
                <a:srgbClr val="C36B4E"/>
              </a:solidFill>
              <a:latin typeface="IBM Plex Sans Arabic"/>
              <a:ea typeface="IBM Plex Sans Arabic"/>
              <a:cs typeface="IBM Plex Sans Arabic"/>
              <a:sym typeface="IBM Plex Sans Arabic"/>
            </a:endParaRPr>
          </a:p>
          <a:p>
            <a:pPr indent="0" lvl="0" marL="0" rtl="1" algn="r">
              <a:lnSpc>
                <a:spcPct val="115000"/>
              </a:lnSpc>
              <a:spcBef>
                <a:spcPts val="0"/>
              </a:spcBef>
              <a:spcAft>
                <a:spcPts val="0"/>
              </a:spcAft>
              <a:buNone/>
            </a:pPr>
            <a:r>
              <a:t/>
            </a:r>
            <a:endParaRPr sz="1200">
              <a:solidFill>
                <a:srgbClr val="FFFFFF"/>
              </a:solidFill>
              <a:latin typeface="IBM Plex Sans Arabic"/>
              <a:ea typeface="IBM Plex Sans Arabic"/>
              <a:cs typeface="IBM Plex Sans Arabic"/>
              <a:sym typeface="IBM Plex Sans Arabic"/>
            </a:endParaRPr>
          </a:p>
        </p:txBody>
      </p:sp>
      <p:sp>
        <p:nvSpPr>
          <p:cNvPr id="183" name="Google Shape;183;p19"/>
          <p:cNvSpPr txBox="1"/>
          <p:nvPr/>
        </p:nvSpPr>
        <p:spPr>
          <a:xfrm>
            <a:off x="2387786" y="2151363"/>
            <a:ext cx="3098400" cy="4062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en" sz="2500">
                <a:solidFill>
                  <a:srgbClr val="8980BC"/>
                </a:solidFill>
                <a:latin typeface="IBM Plex Sans Arabic"/>
                <a:ea typeface="IBM Plex Sans Arabic"/>
                <a:cs typeface="IBM Plex Sans Arabic"/>
                <a:sym typeface="IBM Plex Sans Arabic"/>
              </a:rPr>
              <a:t>مصرفٌ يقول لك ليش — قبل أن تسأل</a:t>
            </a:r>
            <a:endParaRPr sz="2500">
              <a:solidFill>
                <a:srgbClr val="8980BC"/>
              </a:solidFill>
              <a:latin typeface="IBM Plex Sans Arabic"/>
              <a:ea typeface="IBM Plex Sans Arabic"/>
              <a:cs typeface="IBM Plex Sans Arabic"/>
              <a:sym typeface="IBM Plex Sans Arabic"/>
            </a:endParaRPr>
          </a:p>
        </p:txBody>
      </p:sp>
      <p:sp>
        <p:nvSpPr>
          <p:cNvPr id="184" name="Google Shape;184;p19"/>
          <p:cNvSpPr txBox="1"/>
          <p:nvPr/>
        </p:nvSpPr>
        <p:spPr>
          <a:xfrm>
            <a:off x="3086486" y="1273438"/>
            <a:ext cx="2399700" cy="5727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b="1" lang="en" sz="2800">
                <a:solidFill>
                  <a:srgbClr val="032341"/>
                </a:solidFill>
                <a:latin typeface="IBM Plex Sans Arabic"/>
                <a:ea typeface="IBM Plex Sans Arabic"/>
                <a:cs typeface="IBM Plex Sans Arabic"/>
                <a:sym typeface="IBM Plex Sans Arabic"/>
              </a:rPr>
              <a:t>وصف الفكرة</a:t>
            </a:r>
            <a:endParaRPr sz="2500">
              <a:solidFill>
                <a:srgbClr val="032341"/>
              </a:solidFill>
              <a:latin typeface="IBM Plex Sans Arabic"/>
              <a:ea typeface="IBM Plex Sans Arabic"/>
              <a:cs typeface="IBM Plex Sans Arabic"/>
              <a:sym typeface="IBM Plex Sans Arab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 name="Shape 188"/>
        <p:cNvGrpSpPr/>
        <p:nvPr/>
      </p:nvGrpSpPr>
      <p:grpSpPr>
        <a:xfrm>
          <a:off x="0" y="0"/>
          <a:ext cx="0" cy="0"/>
          <a:chOff x="0" y="0"/>
          <a:chExt cx="0" cy="0"/>
        </a:xfrm>
      </p:grpSpPr>
      <p:pic>
        <p:nvPicPr>
          <p:cNvPr id="189" name="Google Shape;189;p20" title="Untitled-30.png"/>
          <p:cNvPicPr preferRelativeResize="0"/>
          <p:nvPr/>
        </p:nvPicPr>
        <p:blipFill>
          <a:blip r:embed="rId4">
            <a:alphaModFix/>
          </a:blip>
          <a:stretch>
            <a:fillRect/>
          </a:stretch>
        </p:blipFill>
        <p:spPr>
          <a:xfrm>
            <a:off x="297075" y="178150"/>
            <a:ext cx="829250" cy="829250"/>
          </a:xfrm>
          <a:prstGeom prst="rect">
            <a:avLst/>
          </a:prstGeom>
          <a:noFill/>
          <a:ln>
            <a:noFill/>
          </a:ln>
        </p:spPr>
      </p:pic>
      <p:sp>
        <p:nvSpPr>
          <p:cNvPr id="190" name="Google Shape;190;p20"/>
          <p:cNvSpPr txBox="1"/>
          <p:nvPr/>
        </p:nvSpPr>
        <p:spPr>
          <a:xfrm>
            <a:off x="2355199" y="2539138"/>
            <a:ext cx="3517500" cy="13125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0"/>
              </a:spcBef>
              <a:spcAft>
                <a:spcPts val="0"/>
              </a:spcAft>
              <a:buNone/>
            </a:pPr>
            <a:r>
              <a:t/>
            </a:r>
            <a:endParaRPr sz="1200">
              <a:solidFill>
                <a:srgbClr val="FFFFFF"/>
              </a:solidFill>
              <a:latin typeface="IBM Plex Sans Arabic"/>
              <a:ea typeface="IBM Plex Sans Arabic"/>
              <a:cs typeface="IBM Plex Sans Arabic"/>
              <a:sym typeface="IBM Plex Sans Arabic"/>
            </a:endParaRPr>
          </a:p>
          <a:p>
            <a:pPr indent="0" lvl="0" marL="0" rtl="1" algn="r">
              <a:lnSpc>
                <a:spcPct val="115000"/>
              </a:lnSpc>
              <a:spcBef>
                <a:spcPts val="0"/>
              </a:spcBef>
              <a:spcAft>
                <a:spcPts val="0"/>
              </a:spcAft>
              <a:buNone/>
            </a:pPr>
            <a:r>
              <a:rPr lang="en" sz="1200">
                <a:solidFill>
                  <a:srgbClr val="C36B4E"/>
                </a:solidFill>
                <a:latin typeface="IBM Plex Sans Arabic"/>
                <a:ea typeface="IBM Plex Sans Arabic"/>
                <a:cs typeface="IBM Plex Sans Arabic"/>
                <a:sym typeface="IBM Plex Sans Arabic"/>
              </a:rPr>
              <a:t>تُقرأ بيانات العميل لحظياً عبر المصرفية المفتوحة والأجهزة الموثوقة، بموافقته الصريحة وضمن نظام حماية البيانات الشخصية. تُحسب منها صورةُ ما هو معتاد له وحده، فتُكيَّف قوة التحقّق بحسب درجة خطر العملية، ثم يُصاغ الإشعار الذي يذكر السبب والخطوة التالية. كل رقم يظهر للعميل مشتقٌّ من عملياته هو — لا من قاعدة عامة تُطبَّق على الجميع.</a:t>
            </a:r>
            <a:endParaRPr sz="1200">
              <a:solidFill>
                <a:srgbClr val="C36B4E"/>
              </a:solidFill>
              <a:latin typeface="IBM Plex Sans Arabic"/>
              <a:ea typeface="IBM Plex Sans Arabic"/>
              <a:cs typeface="IBM Plex Sans Arabic"/>
              <a:sym typeface="IBM Plex Sans Arabic"/>
            </a:endParaRPr>
          </a:p>
          <a:p>
            <a:pPr indent="0" lvl="0" marL="0" rtl="1" algn="r">
              <a:lnSpc>
                <a:spcPct val="115000"/>
              </a:lnSpc>
              <a:spcBef>
                <a:spcPts val="0"/>
              </a:spcBef>
              <a:spcAft>
                <a:spcPts val="0"/>
              </a:spcAft>
              <a:buNone/>
            </a:pPr>
            <a:r>
              <a:t/>
            </a:r>
            <a:endParaRPr sz="1200">
              <a:solidFill>
                <a:srgbClr val="FFFFFF"/>
              </a:solidFill>
              <a:latin typeface="IBM Plex Sans Arabic"/>
              <a:ea typeface="IBM Plex Sans Arabic"/>
              <a:cs typeface="IBM Plex Sans Arabic"/>
              <a:sym typeface="IBM Plex Sans Arabic"/>
            </a:endParaRPr>
          </a:p>
          <a:p>
            <a:pPr indent="0" lvl="0" marL="0" rtl="1" algn="r">
              <a:lnSpc>
                <a:spcPct val="115000"/>
              </a:lnSpc>
              <a:spcBef>
                <a:spcPts val="0"/>
              </a:spcBef>
              <a:spcAft>
                <a:spcPts val="0"/>
              </a:spcAft>
              <a:buNone/>
            </a:pPr>
            <a:r>
              <a:t/>
            </a:r>
            <a:endParaRPr sz="1200">
              <a:solidFill>
                <a:srgbClr val="FFFFFF"/>
              </a:solidFill>
              <a:latin typeface="IBM Plex Sans Arabic"/>
              <a:ea typeface="IBM Plex Sans Arabic"/>
              <a:cs typeface="IBM Plex Sans Arabic"/>
              <a:sym typeface="IBM Plex Sans Arabic"/>
            </a:endParaRPr>
          </a:p>
        </p:txBody>
      </p:sp>
      <p:sp>
        <p:nvSpPr>
          <p:cNvPr id="191" name="Google Shape;191;p20"/>
          <p:cNvSpPr txBox="1"/>
          <p:nvPr/>
        </p:nvSpPr>
        <p:spPr>
          <a:xfrm>
            <a:off x="2083050" y="1291863"/>
            <a:ext cx="3789900" cy="13125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b="1" lang="en" sz="2800">
                <a:solidFill>
                  <a:srgbClr val="032341"/>
                </a:solidFill>
                <a:latin typeface="IBM Plex Sans Arabic"/>
                <a:ea typeface="IBM Plex Sans Arabic"/>
                <a:cs typeface="IBM Plex Sans Arabic"/>
                <a:sym typeface="IBM Plex Sans Arabic"/>
              </a:rPr>
              <a:t>كيفية توفير هذه البيانات وكيفية استخدامها</a:t>
            </a:r>
            <a:endParaRPr b="1" sz="2800">
              <a:solidFill>
                <a:srgbClr val="032341"/>
              </a:solidFill>
              <a:latin typeface="IBM Plex Sans Arabic"/>
              <a:ea typeface="IBM Plex Sans Arabic"/>
              <a:cs typeface="IBM Plex Sans Arabic"/>
              <a:sym typeface="IBM Plex Sans Arabic"/>
            </a:endParaRPr>
          </a:p>
        </p:txBody>
      </p:sp>
      <p:pic>
        <p:nvPicPr>
          <p:cNvPr id="192" name="Google Shape;192;p20" title="shutterstock_2303267969.jpg"/>
          <p:cNvPicPr preferRelativeResize="0"/>
          <p:nvPr/>
        </p:nvPicPr>
        <p:blipFill rotWithShape="1">
          <a:blip r:embed="rId5">
            <a:alphaModFix/>
          </a:blip>
          <a:srcRect b="0" l="62022" r="0" t="0"/>
          <a:stretch/>
        </p:blipFill>
        <p:spPr>
          <a:xfrm>
            <a:off x="6213200" y="0"/>
            <a:ext cx="2930801" cy="5143501"/>
          </a:xfrm>
          <a:prstGeom prst="rect">
            <a:avLst/>
          </a:prstGeom>
          <a:noFill/>
          <a:ln>
            <a:noFill/>
          </a:ln>
        </p:spPr>
      </p:pic>
      <p:pic>
        <p:nvPicPr>
          <p:cNvPr id="193" name="Google Shape;193;p20" title="shutterstock_2627921973.png"/>
          <p:cNvPicPr preferRelativeResize="0"/>
          <p:nvPr/>
        </p:nvPicPr>
        <p:blipFill rotWithShape="1">
          <a:blip r:embed="rId6">
            <a:alphaModFix/>
          </a:blip>
          <a:srcRect b="0" l="0" r="30041" t="0"/>
          <a:stretch/>
        </p:blipFill>
        <p:spPr>
          <a:xfrm>
            <a:off x="6213200" y="2351400"/>
            <a:ext cx="2930801" cy="27921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7" name="Shape 197"/>
        <p:cNvGrpSpPr/>
        <p:nvPr/>
      </p:nvGrpSpPr>
      <p:grpSpPr>
        <a:xfrm>
          <a:off x="0" y="0"/>
          <a:ext cx="0" cy="0"/>
          <a:chOff x="0" y="0"/>
          <a:chExt cx="0" cy="0"/>
        </a:xfrm>
      </p:grpSpPr>
      <p:pic>
        <p:nvPicPr>
          <p:cNvPr id="198" name="Google Shape;198;p21" title="Untitled-30.png"/>
          <p:cNvPicPr preferRelativeResize="0"/>
          <p:nvPr/>
        </p:nvPicPr>
        <p:blipFill>
          <a:blip r:embed="rId4">
            <a:alphaModFix/>
          </a:blip>
          <a:stretch>
            <a:fillRect/>
          </a:stretch>
        </p:blipFill>
        <p:spPr>
          <a:xfrm>
            <a:off x="297075" y="178150"/>
            <a:ext cx="829250" cy="829250"/>
          </a:xfrm>
          <a:prstGeom prst="rect">
            <a:avLst/>
          </a:prstGeom>
          <a:noFill/>
          <a:ln>
            <a:noFill/>
          </a:ln>
        </p:spPr>
      </p:pic>
      <p:sp>
        <p:nvSpPr>
          <p:cNvPr id="199" name="Google Shape;199;p21"/>
          <p:cNvSpPr txBox="1"/>
          <p:nvPr/>
        </p:nvSpPr>
        <p:spPr>
          <a:xfrm>
            <a:off x="2249427" y="1442625"/>
            <a:ext cx="3515100" cy="5364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b="1" lang="en" sz="2800">
                <a:solidFill>
                  <a:srgbClr val="032341"/>
                </a:solidFill>
                <a:latin typeface="IBM Plex Sans Arabic"/>
                <a:ea typeface="IBM Plex Sans Arabic"/>
                <a:cs typeface="IBM Plex Sans Arabic"/>
                <a:sym typeface="IBM Plex Sans Arabic"/>
              </a:rPr>
              <a:t>مواءمة الفكرة :</a:t>
            </a:r>
            <a:endParaRPr b="1" sz="2800">
              <a:solidFill>
                <a:srgbClr val="032341"/>
              </a:solidFill>
              <a:latin typeface="IBM Plex Sans Arabic"/>
              <a:ea typeface="IBM Plex Sans Arabic"/>
              <a:cs typeface="IBM Plex Sans Arabic"/>
              <a:sym typeface="IBM Plex Sans Arabic"/>
            </a:endParaRPr>
          </a:p>
        </p:txBody>
      </p:sp>
      <p:sp>
        <p:nvSpPr>
          <p:cNvPr id="200" name="Google Shape;200;p21"/>
          <p:cNvSpPr txBox="1"/>
          <p:nvPr/>
        </p:nvSpPr>
        <p:spPr>
          <a:xfrm>
            <a:off x="2045327" y="2106600"/>
            <a:ext cx="3719100" cy="13770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0"/>
              </a:spcBef>
              <a:spcAft>
                <a:spcPts val="1600"/>
              </a:spcAft>
              <a:buNone/>
            </a:pPr>
            <a:r>
              <a:rPr lang="en">
                <a:solidFill>
                  <a:srgbClr val="C36B4E"/>
                </a:solidFill>
                <a:latin typeface="IBM Plex Sans Arabic"/>
                <a:ea typeface="IBM Plex Sans Arabic"/>
                <a:cs typeface="IBM Plex Sans Arabic"/>
                <a:sym typeface="IBM Plex Sans Arabic"/>
              </a:rPr>
              <a:t>مسار «تجربة العميل — التخصيص والتحليل الذكي» يطلب تحليلاً ذكياً يتحوّل إلى تخصيص حقيقي. وهذا بالضبط ما يفعله كَفيت: يحلّل سلوك العميل، فيخصّص له القرار نفسه — لا المحتوى فقط. أن يعرف المصرف عميله ثم يعامله بصمت، تحليلٌ بلا تخصيص. وأن يعامله بلا أن يشرح، تخصيصٌ بلا احترام. كَفيت يجمع الاثنين: قرارٌ يخصّك، ويصلك ومعه سببه.</a:t>
            </a:r>
            <a:endParaRPr>
              <a:solidFill>
                <a:srgbClr val="C36B4E"/>
              </a:solidFill>
              <a:latin typeface="IBM Plex Sans Arabic"/>
              <a:ea typeface="IBM Plex Sans Arabic"/>
              <a:cs typeface="IBM Plex Sans Arabic"/>
              <a:sym typeface="IBM Plex Sans Arabic"/>
            </a:endParaRPr>
          </a:p>
        </p:txBody>
      </p:sp>
      <p:pic>
        <p:nvPicPr>
          <p:cNvPr id="201" name="Google Shape;201;p21" title="shutterstock_385335934.jpg"/>
          <p:cNvPicPr preferRelativeResize="0"/>
          <p:nvPr/>
        </p:nvPicPr>
        <p:blipFill rotWithShape="1">
          <a:blip r:embed="rId5">
            <a:alphaModFix/>
          </a:blip>
          <a:srcRect b="0" l="24017" r="38005" t="0"/>
          <a:stretch/>
        </p:blipFill>
        <p:spPr>
          <a:xfrm>
            <a:off x="6213200" y="0"/>
            <a:ext cx="2930801" cy="51435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5" name="Shape 205"/>
        <p:cNvGrpSpPr/>
        <p:nvPr/>
      </p:nvGrpSpPr>
      <p:grpSpPr>
        <a:xfrm>
          <a:off x="0" y="0"/>
          <a:ext cx="0" cy="0"/>
          <a:chOff x="0" y="0"/>
          <a:chExt cx="0" cy="0"/>
        </a:xfrm>
      </p:grpSpPr>
      <p:pic>
        <p:nvPicPr>
          <p:cNvPr id="206" name="Google Shape;206;p22" title="Untitled-30.png"/>
          <p:cNvPicPr preferRelativeResize="0"/>
          <p:nvPr/>
        </p:nvPicPr>
        <p:blipFill>
          <a:blip r:embed="rId4">
            <a:alphaModFix/>
          </a:blip>
          <a:stretch>
            <a:fillRect/>
          </a:stretch>
        </p:blipFill>
        <p:spPr>
          <a:xfrm>
            <a:off x="297075" y="178150"/>
            <a:ext cx="829250" cy="829250"/>
          </a:xfrm>
          <a:prstGeom prst="rect">
            <a:avLst/>
          </a:prstGeom>
          <a:noFill/>
          <a:ln>
            <a:noFill/>
          </a:ln>
        </p:spPr>
      </p:pic>
      <p:pic>
        <p:nvPicPr>
          <p:cNvPr id="207" name="Google Shape;207;p22" title="shutterstock_385335934.jpg"/>
          <p:cNvPicPr preferRelativeResize="0"/>
          <p:nvPr/>
        </p:nvPicPr>
        <p:blipFill rotWithShape="1">
          <a:blip r:embed="rId5">
            <a:alphaModFix/>
          </a:blip>
          <a:srcRect b="0" l="24017" r="38005" t="0"/>
          <a:stretch/>
        </p:blipFill>
        <p:spPr>
          <a:xfrm>
            <a:off x="6213200" y="0"/>
            <a:ext cx="2930801" cy="5143501"/>
          </a:xfrm>
          <a:prstGeom prst="rect">
            <a:avLst/>
          </a:prstGeom>
          <a:noFill/>
          <a:ln>
            <a:noFill/>
          </a:ln>
        </p:spPr>
      </p:pic>
      <p:sp>
        <p:nvSpPr>
          <p:cNvPr id="208" name="Google Shape;208;p22"/>
          <p:cNvSpPr txBox="1"/>
          <p:nvPr/>
        </p:nvSpPr>
        <p:spPr>
          <a:xfrm>
            <a:off x="2150625" y="1551263"/>
            <a:ext cx="3515100" cy="5364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b="1" lang="en" sz="2800">
                <a:solidFill>
                  <a:srgbClr val="032341"/>
                </a:solidFill>
                <a:latin typeface="IBM Plex Sans Arabic"/>
                <a:ea typeface="IBM Plex Sans Arabic"/>
                <a:cs typeface="IBM Plex Sans Arabic"/>
                <a:sym typeface="IBM Plex Sans Arabic"/>
              </a:rPr>
              <a:t>ملخص</a:t>
            </a:r>
            <a:endParaRPr b="1" sz="2800">
              <a:solidFill>
                <a:srgbClr val="032341"/>
              </a:solidFill>
              <a:latin typeface="IBM Plex Sans Arabic"/>
              <a:ea typeface="IBM Plex Sans Arabic"/>
              <a:cs typeface="IBM Plex Sans Arabic"/>
              <a:sym typeface="IBM Plex Sans Arabic"/>
            </a:endParaRPr>
          </a:p>
        </p:txBody>
      </p:sp>
      <p:sp>
        <p:nvSpPr>
          <p:cNvPr id="209" name="Google Shape;209;p22"/>
          <p:cNvSpPr txBox="1"/>
          <p:nvPr/>
        </p:nvSpPr>
        <p:spPr>
          <a:xfrm>
            <a:off x="1946525" y="2215238"/>
            <a:ext cx="3719100" cy="13770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0"/>
              </a:spcBef>
              <a:spcAft>
                <a:spcPts val="1600"/>
              </a:spcAft>
              <a:buNone/>
            </a:pPr>
            <a:r>
              <a:rPr lang="en">
                <a:solidFill>
                  <a:srgbClr val="C36B4E"/>
                </a:solidFill>
                <a:latin typeface="IBM Plex Sans Arabic"/>
                <a:ea typeface="IBM Plex Sans Arabic"/>
                <a:cs typeface="IBM Plex Sans Arabic"/>
                <a:sym typeface="IBM Plex Sans Arabic"/>
              </a:rPr>
              <a:t>مسحنا 14 جهة مصرفية سعودية. بعضها يرسل إشعار احتيال أو سبب رفض عام — نعترف بذلك. لكن ما أحد يعطي العميل سبباً محدّداً محسوباً من بياناته هو، مع خطوته التالية وحقّه يعترض. نظام الحماية في البنك يبقى صاحب القرار — كَفيت ما يلغي حجزاً ولا يفتح عمليةً أوقفها النظام. يقرّر شيئاً واحداً: كم خطوة تحقّق يطلبها منك — أقل لا أكثر، وما ينزل تحت حدّ ساما أبداً. مستهدفنا نقلّل مكالمات هذه الفئة 30–40٪، والتنفيذ يبدأ هذا الربع بصلاحية قراءة فقط.</a:t>
            </a:r>
            <a:endParaRPr>
              <a:solidFill>
                <a:srgbClr val="C36B4E"/>
              </a:solidFill>
              <a:latin typeface="IBM Plex Sans Arabic"/>
              <a:ea typeface="IBM Plex Sans Arabic"/>
              <a:cs typeface="IBM Plex Sans Arabic"/>
              <a:sym typeface="IBM Plex Sans Arab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3" name="Shape 213"/>
        <p:cNvGrpSpPr/>
        <p:nvPr/>
      </p:nvGrpSpPr>
      <p:grpSpPr>
        <a:xfrm>
          <a:off x="0" y="0"/>
          <a:ext cx="0" cy="0"/>
          <a:chOff x="0" y="0"/>
          <a:chExt cx="0" cy="0"/>
        </a:xfrm>
      </p:grpSpPr>
      <p:pic>
        <p:nvPicPr>
          <p:cNvPr id="214" name="Google Shape;214;p23" title="Untitled-30.png"/>
          <p:cNvPicPr preferRelativeResize="0"/>
          <p:nvPr/>
        </p:nvPicPr>
        <p:blipFill>
          <a:blip r:embed="rId4">
            <a:alphaModFix/>
          </a:blip>
          <a:stretch>
            <a:fillRect/>
          </a:stretch>
        </p:blipFill>
        <p:spPr>
          <a:xfrm>
            <a:off x="297075" y="178150"/>
            <a:ext cx="829250" cy="829250"/>
          </a:xfrm>
          <a:prstGeom prst="rect">
            <a:avLst/>
          </a:prstGeom>
          <a:noFill/>
          <a:ln>
            <a:noFill/>
          </a:ln>
        </p:spPr>
      </p:pic>
      <p:sp>
        <p:nvSpPr>
          <p:cNvPr id="215" name="Google Shape;215;p23"/>
          <p:cNvSpPr txBox="1"/>
          <p:nvPr/>
        </p:nvSpPr>
        <p:spPr>
          <a:xfrm>
            <a:off x="4916400" y="989225"/>
            <a:ext cx="3541200" cy="950100"/>
          </a:xfrm>
          <a:prstGeom prst="rect">
            <a:avLst/>
          </a:prstGeom>
          <a:noFill/>
          <a:ln>
            <a:noFill/>
          </a:ln>
        </p:spPr>
        <p:txBody>
          <a:bodyPr anchorCtr="0" anchor="ctr" bIns="91425" lIns="91425" spcFirstLastPara="1" rIns="91425" wrap="square" tIns="91425">
            <a:noAutofit/>
          </a:bodyPr>
          <a:lstStyle/>
          <a:p>
            <a:pPr indent="0" lvl="0" marL="0" rtl="1" algn="r">
              <a:lnSpc>
                <a:spcPct val="115000"/>
              </a:lnSpc>
              <a:spcBef>
                <a:spcPts val="1200"/>
              </a:spcBef>
              <a:spcAft>
                <a:spcPts val="1200"/>
              </a:spcAft>
              <a:buNone/>
            </a:pPr>
            <a:r>
              <a:rPr b="1" lang="en" sz="2800">
                <a:solidFill>
                  <a:srgbClr val="032341"/>
                </a:solidFill>
                <a:latin typeface="IBM Plex Sans Arabic"/>
                <a:ea typeface="IBM Plex Sans Arabic"/>
                <a:cs typeface="IBM Plex Sans Arabic"/>
                <a:sym typeface="IBM Plex Sans Arabic"/>
              </a:rPr>
              <a:t>غيّروها أمامي</a:t>
            </a:r>
            <a:endParaRPr b="1" sz="2800">
              <a:solidFill>
                <a:srgbClr val="032341"/>
              </a:solidFill>
              <a:latin typeface="IBM Plex Sans Arabic"/>
              <a:ea typeface="IBM Plex Sans Arabic"/>
              <a:cs typeface="IBM Plex Sans Arabic"/>
              <a:sym typeface="IBM Plex Sans Arabic"/>
            </a:endParaRPr>
          </a:p>
        </p:txBody>
      </p:sp>
      <p:sp>
        <p:nvSpPr>
          <p:cNvPr id="216" name="Google Shape;216;p23"/>
          <p:cNvSpPr txBox="1"/>
          <p:nvPr/>
        </p:nvSpPr>
        <p:spPr>
          <a:xfrm>
            <a:off x="1713225" y="2000000"/>
            <a:ext cx="7099200" cy="2500000"/>
          </a:xfrm>
          <a:prstGeom prst="rect">
            <a:avLst/>
          </a:prstGeom>
          <a:noFill/>
          <a:ln>
            <a:noFill/>
          </a:ln>
        </p:spPr>
        <p:txBody>
          <a:bodyPr anchorCtr="0" anchor="t" bIns="91425" lIns="91425" spcFirstLastPara="1" rIns="91425" wrap="square" tIns="91425">
            <a:noAutofit/>
          </a:bodyPr>
          <a:lstStyle/>
          <a:p>
            <a:pPr indent="0" lvl="0" marL="457200" rtl="1" algn="just">
              <a:lnSpc>
                <a:spcPct val="115000"/>
              </a:lnSpc>
              <a:spcBef>
                <a:spcPts val="1200"/>
              </a:spcBef>
              <a:spcAft>
                <a:spcPts val="0"/>
              </a:spcAft>
              <a:buClr>
                <a:schemeClr val="dk1"/>
              </a:buClr>
              <a:buSzPts val="1100"/>
              <a:buFont typeface="Arial"/>
              <a:buNone/>
            </a:pPr>
            <a:r>
              <a:rPr lang="en" sz="1600">
                <a:solidFill>
                  <a:srgbClr val="C36B4E"/>
                </a:solidFill>
                <a:latin typeface="IBM Plex Sans Arabic Medium"/>
                <a:ea typeface="IBM Plex Sans Arabic Medium"/>
                <a:cs typeface="IBM Plex Sans Arabic Medium"/>
                <a:sym typeface="IBM Plex Sans Arabic Medium"/>
              </a:rPr>
              <a:t>الشريط بأيديكم — اسحبوه. ثلاث حدود معلنة تعطي ثلاثة قرارات حقيقية. ونظام الحماية في البنك يبقى صاحب القرار — كَفيت ما يلغي حجزاً ولا يفتح عمليةً أوقفها النظام. يقرّر شيئاً واحداً: كم خطوة تحقّق يطلبها منك — أقل لا أكثر، وما ينزل تحت حدّ ساما أبداً.</a:t>
            </a:r>
            <a:r>
              <a:rPr lang="en" sz="1600">
                <a:solidFill>
                  <a:srgbClr val="8980BC"/>
                </a:solidFill>
                <a:latin typeface="IBM Plex Sans Arabic Medium"/>
                <a:ea typeface="IBM Plex Sans Arabic Medium"/>
                <a:cs typeface="IBM Plex Sans Arabic Medium"/>
                <a:sym typeface="IBM Plex Sans Arabic Medium"/>
              </a:rPr>
              <a:t/>
            </a:r>
            <a:r>
              <a:rPr lang="en" sz="1600">
                <a:solidFill>
                  <a:srgbClr val="C36B4E"/>
                </a:solidFill>
                <a:latin typeface="IBM Plex Sans Arabic Medium"/>
                <a:ea typeface="IBM Plex Sans Arabic Medium"/>
                <a:cs typeface="IBM Plex Sans Arabic Medium"/>
                <a:sym typeface="IBM Plex Sans Arabic Medium"/>
              </a:rPr>
              <a:t/>
            </a:r>
            <a:endParaRPr sz="1600">
              <a:solidFill>
                <a:srgbClr val="C36B4E"/>
              </a:solidFill>
              <a:latin typeface="IBM Plex Sans Arabic Medium"/>
              <a:ea typeface="IBM Plex Sans Arabic Medium"/>
              <a:cs typeface="IBM Plex Sans Arabic Medium"/>
              <a:sym typeface="IBM Plex Sans Arabic Medium"/>
            </a:endParaRPr>
          </a:p>
          <a:p>
            <a:pPr indent="0" lvl="0" marL="0" rtl="1" algn="just">
              <a:lnSpc>
                <a:spcPct val="115000"/>
              </a:lnSpc>
              <a:spcBef>
                <a:spcPts val="1200"/>
              </a:spcBef>
              <a:spcAft>
                <a:spcPts val="0"/>
              </a:spcAft>
              <a:buNone/>
            </a:pPr>
            <a:r>
              <a:t/>
            </a:r>
            <a:endParaRPr sz="1000">
              <a:solidFill>
                <a:srgbClr val="C36B4E"/>
              </a:solidFill>
              <a:latin typeface="IBM Plex Sans Arabic"/>
              <a:ea typeface="IBM Plex Sans Arabic"/>
              <a:cs typeface="IBM Plex Sans Arabic"/>
              <a:sym typeface="IBM Plex Sans Arabic"/>
            </a:endParaRPr>
          </a:p>
        </p:txBody>
      </p:sp>
      <p:pic>
        <p:nvPicPr>
          <p:cNvPr id="950" name="dial-proof"/>
          <p:cNvPicPr>
            <a:picLocks noChangeAspect="1"/>
          </p:cNvPicPr>
          <p:nvPr/>
        </p:nvPicPr>
        <p:blipFill>
          <a:blip r:embed="rId90"/>
          <a:stretch>
            <a:fillRect/>
          </a:stretch>
        </p:blipFill>
        <p:spPr>
          <a:xfrm>
            <a:off x="819689" y="2760000"/>
            <a:ext cx="7504621" cy="215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0" name="Shape 220"/>
        <p:cNvGrpSpPr/>
        <p:nvPr/>
      </p:nvGrpSpPr>
      <p:grpSpPr>
        <a:xfrm>
          <a:off x="0" y="0"/>
          <a:ext cx="0" cy="0"/>
          <a:chOff x="0" y="0"/>
          <a:chExt cx="0" cy="0"/>
        </a:xfrm>
      </p:grpSpPr>
      <p:pic>
        <p:nvPicPr>
          <p:cNvPr id="221" name="Google Shape;221;p24" title="Untitled-30.png"/>
          <p:cNvPicPr preferRelativeResize="0"/>
          <p:nvPr/>
        </p:nvPicPr>
        <p:blipFill>
          <a:blip r:embed="rId4">
            <a:alphaModFix/>
          </a:blip>
          <a:stretch>
            <a:fillRect/>
          </a:stretch>
        </p:blipFill>
        <p:spPr>
          <a:xfrm>
            <a:off x="297075" y="178150"/>
            <a:ext cx="829250" cy="829250"/>
          </a:xfrm>
          <a:prstGeom prst="rect">
            <a:avLst/>
          </a:prstGeom>
          <a:noFill/>
          <a:ln>
            <a:noFill/>
          </a:ln>
        </p:spPr>
      </p:pic>
      <p:sp>
        <p:nvSpPr>
          <p:cNvPr id="222" name="Google Shape;222;p24"/>
          <p:cNvSpPr txBox="1"/>
          <p:nvPr/>
        </p:nvSpPr>
        <p:spPr>
          <a:xfrm>
            <a:off x="2094225" y="989225"/>
            <a:ext cx="6363300" cy="1196400"/>
          </a:xfrm>
          <a:prstGeom prst="rect">
            <a:avLst/>
          </a:prstGeom>
          <a:noFill/>
          <a:ln>
            <a:noFill/>
          </a:ln>
        </p:spPr>
        <p:txBody>
          <a:bodyPr anchorCtr="0" anchor="ctr" bIns="91425" lIns="91425" spcFirstLastPara="1" rIns="91425" wrap="square" tIns="91425">
            <a:noAutofit/>
          </a:bodyPr>
          <a:lstStyle/>
          <a:p>
            <a:pPr indent="0" lvl="0" marL="0" rtl="1" algn="r">
              <a:lnSpc>
                <a:spcPct val="115000"/>
              </a:lnSpc>
              <a:spcBef>
                <a:spcPts val="1200"/>
              </a:spcBef>
              <a:spcAft>
                <a:spcPts val="1200"/>
              </a:spcAft>
              <a:buNone/>
            </a:pPr>
            <a:r>
              <a:rPr b="1" lang="en" sz="2800">
                <a:solidFill>
                  <a:srgbClr val="032341"/>
                </a:solidFill>
                <a:latin typeface="IBM Plex Sans Arabic"/>
                <a:ea typeface="IBM Plex Sans Arabic"/>
                <a:cs typeface="IBM Plex Sans Arabic"/>
                <a:sym typeface="IBM Plex Sans Arabic"/>
              </a:rPr>
              <a:t>العميل يفهم · المحتال لا يتعلّم</a:t>
            </a:r>
            <a:endParaRPr b="1" sz="2800">
              <a:solidFill>
                <a:srgbClr val="032341"/>
              </a:solidFill>
              <a:latin typeface="IBM Plex Sans Arabic"/>
              <a:ea typeface="IBM Plex Sans Arabic"/>
              <a:cs typeface="IBM Plex Sans Arabic"/>
              <a:sym typeface="IBM Plex Sans Arabic"/>
            </a:endParaRPr>
          </a:p>
        </p:txBody>
      </p:sp>
      <p:sp>
        <p:nvSpPr>
          <p:cNvPr id="223" name="Google Shape;223;p24"/>
          <p:cNvSpPr txBox="1"/>
          <p:nvPr/>
        </p:nvSpPr>
        <p:spPr>
          <a:xfrm>
            <a:off x="1826050" y="2200000"/>
            <a:ext cx="6631500" cy="700000"/>
          </a:xfrm>
          <a:prstGeom prst="rect">
            <a:avLst/>
          </a:prstGeom>
          <a:noFill/>
          <a:ln>
            <a:noFill/>
          </a:ln>
        </p:spPr>
        <p:txBody>
          <a:bodyPr anchorCtr="0" anchor="ctr" bIns="91425" lIns="91425" spcFirstLastPara="1" rIns="91425" wrap="square" tIns="91425">
            <a:noAutofit/>
          </a:bodyPr>
          <a:lstStyle/>
          <a:p>
            <a:pPr indent="0" lvl="0" marL="0" rtl="1" algn="r">
              <a:lnSpc>
                <a:spcPct val="115000"/>
              </a:lnSpc>
              <a:spcBef>
                <a:spcPts val="1200"/>
              </a:spcBef>
              <a:spcAft>
                <a:spcPts val="1200"/>
              </a:spcAft>
              <a:buNone/>
            </a:pPr>
            <a:r>
              <a:rPr lang="en">
                <a:solidFill>
                  <a:srgbClr val="C36B4E"/>
                </a:solidFill>
                <a:latin typeface="IBM Plex Sans Arabic"/>
                <a:ea typeface="IBM Plex Sans Arabic"/>
                <a:cs typeface="IBM Plex Sans Arabic"/>
                <a:sym typeface="IBM Plex Sans Arabic"/>
              </a:rPr>
              <a:t>يمين: ما يراه العميل — سببٌ بكلام واضح، بلا أرقام. يسار: «شاشة فريق البنك» — الأرقام والحدود والأوزان كاملة، للجنة وساما.</a:t>
            </a:r>
            <a:endParaRPr sz="1600">
              <a:solidFill>
                <a:srgbClr val="C36B4E"/>
              </a:solidFill>
              <a:latin typeface="IBM Plex Sans Arabic"/>
              <a:ea typeface="IBM Plex Sans Arabic"/>
              <a:cs typeface="IBM Plex Sans Arabic"/>
              <a:sym typeface="IBM Plex Sans Arabic"/>
            </a:endParaRPr>
          </a:p>
        </p:txBody>
      </p:sp>
      <p:pic>
        <p:nvPicPr>
          <p:cNvPr id="960" name="demo-layers"/>
          <p:cNvPicPr>
            <a:picLocks noChangeAspect="1"/>
          </p:cNvPicPr>
          <p:nvPr/>
        </p:nvPicPr>
        <p:blipFill>
          <a:blip r:embed="rId7"/>
          <a:stretch>
            <a:fillRect/>
          </a:stretch>
        </p:blipFill>
        <p:spPr>
          <a:xfrm>
            <a:off x="3011905" y="2820000"/>
            <a:ext cx="3120189" cy="218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7" name="Shape 227"/>
        <p:cNvGrpSpPr/>
        <p:nvPr/>
      </p:nvGrpSpPr>
      <p:grpSpPr>
        <a:xfrm>
          <a:off x="0" y="0"/>
          <a:ext cx="0" cy="0"/>
          <a:chOff x="0" y="0"/>
          <a:chExt cx="0" cy="0"/>
        </a:xfrm>
      </p:grpSpPr>
      <p:pic>
        <p:nvPicPr>
          <p:cNvPr id="228" name="Google Shape;228;p25" title="Untitled-30.png"/>
          <p:cNvPicPr preferRelativeResize="0"/>
          <p:nvPr/>
        </p:nvPicPr>
        <p:blipFill>
          <a:blip r:embed="rId4">
            <a:alphaModFix/>
          </a:blip>
          <a:stretch>
            <a:fillRect/>
          </a:stretch>
        </p:blipFill>
        <p:spPr>
          <a:xfrm>
            <a:off x="297075" y="178150"/>
            <a:ext cx="829250" cy="829250"/>
          </a:xfrm>
          <a:prstGeom prst="rect">
            <a:avLst/>
          </a:prstGeom>
          <a:noFill/>
          <a:ln>
            <a:noFill/>
          </a:ln>
        </p:spPr>
      </p:pic>
      <p:sp>
        <p:nvSpPr>
          <p:cNvPr id="229" name="Google Shape;229;p25"/>
          <p:cNvSpPr txBox="1"/>
          <p:nvPr/>
        </p:nvSpPr>
        <p:spPr>
          <a:xfrm>
            <a:off x="3619750" y="989225"/>
            <a:ext cx="4837800" cy="6009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1200"/>
              </a:spcBef>
              <a:spcAft>
                <a:spcPts val="1200"/>
              </a:spcAft>
              <a:buNone/>
            </a:pPr>
            <a:r>
              <a:rPr b="1" lang="en" sz="2800">
                <a:solidFill>
                  <a:srgbClr val="032341"/>
                </a:solidFill>
                <a:latin typeface="IBM Plex Sans Arabic"/>
                <a:ea typeface="IBM Plex Sans Arabic"/>
                <a:cs typeface="IBM Plex Sans Arabic"/>
                <a:sym typeface="IBM Plex Sans Arabic"/>
              </a:rPr>
              <a:t>التحديات والخطط المستقبلية</a:t>
            </a:r>
            <a:endParaRPr b="1" sz="2800">
              <a:solidFill>
                <a:srgbClr val="032341"/>
              </a:solidFill>
              <a:latin typeface="IBM Plex Sans Arabic"/>
              <a:ea typeface="IBM Plex Sans Arabic"/>
              <a:cs typeface="IBM Plex Sans Arabic"/>
              <a:sym typeface="IBM Plex Sans Arabic"/>
            </a:endParaRPr>
          </a:p>
        </p:txBody>
      </p:sp>
      <p:grpSp>
        <p:nvGrpSpPr>
          <p:cNvPr id="230" name="Google Shape;230;p25"/>
          <p:cNvGrpSpPr/>
          <p:nvPr/>
        </p:nvGrpSpPr>
        <p:grpSpPr>
          <a:xfrm>
            <a:off x="1984475" y="1792252"/>
            <a:ext cx="3071501" cy="1242306"/>
            <a:chOff x="2329925" y="1939327"/>
            <a:chExt cx="3071501" cy="1242306"/>
          </a:xfrm>
        </p:grpSpPr>
        <p:sp>
          <p:nvSpPr>
            <p:cNvPr id="231" name="Google Shape;231;p25"/>
            <p:cNvSpPr txBox="1"/>
            <p:nvPr/>
          </p:nvSpPr>
          <p:spPr>
            <a:xfrm>
              <a:off x="2329925" y="2013900"/>
              <a:ext cx="2772600" cy="1300000"/>
            </a:xfrm>
            <a:prstGeom prst="rect">
              <a:avLst/>
            </a:prstGeom>
            <a:noFill/>
            <a:ln>
              <a:noFill/>
            </a:ln>
          </p:spPr>
          <p:txBody>
            <a:bodyPr anchorCtr="0" anchor="t" bIns="91425" lIns="91425" spcFirstLastPara="1" rIns="91425" wrap="square" tIns="91425">
              <a:noAutofit/>
            </a:bodyPr>
            <a:lstStyle/>
            <a:p>
              <a:pPr indent="0" lvl="0" marL="0" rtl="1" algn="r">
                <a:lnSpc>
                  <a:spcPct val="100000"/>
                </a:lnSpc>
                <a:spcBef>
                  <a:spcPts val="1200"/>
                </a:spcBef>
                <a:spcAft>
                  <a:spcPts val="0"/>
                </a:spcAft>
                <a:buNone/>
              </a:pPr>
              <a:r>
                <a:rPr lang="en" sz="1600">
                  <a:solidFill>
                    <a:srgbClr val="8980BC"/>
                  </a:solidFill>
                  <a:latin typeface="IBM Plex Sans Arabic Medium"/>
                  <a:ea typeface="IBM Plex Sans Arabic Medium"/>
                  <a:cs typeface="IBM Plex Sans Arabic Medium"/>
                  <a:sym typeface="IBM Plex Sans Arabic Medium"/>
                </a:rPr>
                <a:t>ما تحتاج إلى مساعدة فيه:</a:t>
              </a:r>
              <a:endParaRPr sz="1600">
                <a:solidFill>
                  <a:srgbClr val="8980BC"/>
                </a:solidFill>
                <a:latin typeface="IBM Plex Sans Arabic Medium"/>
                <a:ea typeface="IBM Plex Sans Arabic Medium"/>
                <a:cs typeface="IBM Plex Sans Arabic Medium"/>
                <a:sym typeface="IBM Plex Sans Arabic Medium"/>
              </a:endParaRPr>
            </a:p>
            <a:p>
              <a:pPr indent="0" lvl="0" marL="0" rtl="1" algn="just">
                <a:lnSpc>
                  <a:spcPct val="115000"/>
                </a:lnSpc>
                <a:spcBef>
                  <a:spcPts val="1200"/>
                </a:spcBef>
                <a:spcAft>
                  <a:spcPts val="1200"/>
                </a:spcAft>
                <a:buNone/>
              </a:pPr>
              <a:r>
                <a:rPr lang="en" sz="900">
                  <a:solidFill>
                    <a:srgbClr val="C36B4E"/>
                  </a:solidFill>
                  <a:latin typeface="IBM Plex Sans Arabic"/>
                  <a:ea typeface="IBM Plex Sans Arabic"/>
                  <a:cs typeface="IBM Plex Sans Arabic"/>
                  <a:sym typeface="IBM Plex Sans Arabic"/>
                </a:rPr>
                <a:t>(1) بيئة تجريبية أو واجهات اختبارية داخل الإنماء — تفتح الباب لربط قناة واحدة بصلاحية قراءة فقط خلال أسابيع. (2) بيانات احتيال حقيقية لمعايرة الأوزان — فأوزاننا اليوم مضبوطة يدوياً، ونقولها صراحةً. (3) توثيق حرفي لبند 4.1.9 ولحدّ الحسم النظامي — نرفض بناء ادعاء على رقم غير موثّق.</a:t>
              </a:r>
              <a:endParaRPr sz="1300">
                <a:solidFill>
                  <a:srgbClr val="C36B4E"/>
                </a:solidFill>
                <a:latin typeface="IBM Plex Sans Arabic"/>
                <a:ea typeface="IBM Plex Sans Arabic"/>
                <a:cs typeface="IBM Plex Sans Arabic"/>
                <a:sym typeface="IBM Plex Sans Arabic"/>
              </a:endParaRPr>
            </a:p>
          </p:txBody>
        </p:sp>
        <p:pic>
          <p:nvPicPr>
            <p:cNvPr id="232" name="Google Shape;232;p25" title="books.png"/>
            <p:cNvPicPr preferRelativeResize="0"/>
            <p:nvPr/>
          </p:nvPicPr>
          <p:blipFill>
            <a:blip r:embed="rId5">
              <a:alphaModFix/>
            </a:blip>
            <a:stretch>
              <a:fillRect/>
            </a:stretch>
          </p:blipFill>
          <p:spPr>
            <a:xfrm>
              <a:off x="4159120" y="1939327"/>
              <a:ext cx="1242306" cy="1242306"/>
            </a:xfrm>
            <a:prstGeom prst="rect">
              <a:avLst/>
            </a:prstGeom>
            <a:noFill/>
            <a:ln>
              <a:noFill/>
            </a:ln>
          </p:spPr>
        </p:pic>
      </p:grpSp>
      <p:grpSp>
        <p:nvGrpSpPr>
          <p:cNvPr id="233" name="Google Shape;233;p25"/>
          <p:cNvGrpSpPr/>
          <p:nvPr/>
        </p:nvGrpSpPr>
        <p:grpSpPr>
          <a:xfrm>
            <a:off x="5845425" y="1792252"/>
            <a:ext cx="2473126" cy="1242306"/>
            <a:chOff x="5786925" y="1831477"/>
            <a:chExt cx="2473126" cy="1242306"/>
          </a:xfrm>
        </p:grpSpPr>
        <p:sp>
          <p:nvSpPr>
            <p:cNvPr id="234" name="Google Shape;234;p25"/>
            <p:cNvSpPr txBox="1"/>
            <p:nvPr/>
          </p:nvSpPr>
          <p:spPr>
            <a:xfrm>
              <a:off x="5786925" y="1939325"/>
              <a:ext cx="2244600" cy="1350000"/>
            </a:xfrm>
            <a:prstGeom prst="rect">
              <a:avLst/>
            </a:prstGeom>
            <a:noFill/>
            <a:ln>
              <a:noFill/>
            </a:ln>
          </p:spPr>
          <p:txBody>
            <a:bodyPr anchorCtr="0" anchor="t" bIns="91425" lIns="91425" spcFirstLastPara="1" rIns="91425" wrap="square" tIns="91425">
              <a:spAutoFit/>
            </a:bodyPr>
            <a:lstStyle/>
            <a:p>
              <a:pPr indent="0" lvl="0" marL="0" rtl="1" algn="just">
                <a:lnSpc>
                  <a:spcPct val="115000"/>
                </a:lnSpc>
                <a:spcBef>
                  <a:spcPts val="1200"/>
                </a:spcBef>
                <a:spcAft>
                  <a:spcPts val="1200"/>
                </a:spcAft>
                <a:buNone/>
              </a:pPr>
              <a:r>
                <a:rPr lang="en" sz="1600">
                  <a:solidFill>
                    <a:srgbClr val="8980BC"/>
                  </a:solidFill>
                  <a:latin typeface="IBM Plex Sans Arabic Medium"/>
                  <a:ea typeface="IBM Plex Sans Arabic Medium"/>
                  <a:cs typeface="IBM Plex Sans Arabic Medium"/>
                  <a:sym typeface="IBM Plex Sans Arabic Medium"/>
                </a:rPr>
                <a:t>التحديات:</a:t>
              </a:r>
              <a:br>
                <a:rPr lang="en">
                  <a:solidFill>
                    <a:schemeClr val="lt1"/>
                  </a:solidFill>
                  <a:latin typeface="IBM Plex Sans Arabic"/>
                  <a:ea typeface="IBM Plex Sans Arabic"/>
                  <a:cs typeface="IBM Plex Sans Arabic"/>
                  <a:sym typeface="IBM Plex Sans Arabic"/>
                </a:rPr>
              </a:br>
              <a:r>
                <a:rPr lang="en" sz="900">
                  <a:solidFill>
                    <a:srgbClr val="C36B4E"/>
                  </a:solidFill>
                  <a:latin typeface="IBM Plex Sans Arabic"/>
                  <a:ea typeface="IBM Plex Sans Arabic"/>
                  <a:cs typeface="IBM Plex Sans Arabic"/>
                  <a:sym typeface="IBM Plex Sans Arabic"/>
                </a:rPr>
                <a:t>التحدي الأول حلّيناه: كم نشرح دون أن نعلّم المحتال؟ الجواب شاشتان — العميل يرى السبب بلا أرقام، وفريق البنك يرى كل شي. والتحدي الثاني قائم بصدق: الأوزان تحتاج معايرة على بيانات حقيقية قبل أن يصل قرارٌ واحد لعميل. ونظام الحماية في البنك يبقى صاحب القرار — كَفيت ما يلغي حجزاً ولا يفتح عمليةً أوقفها النظام. يقرّر شيئاً واحداً: كم خطوة تحقّق يطلبها منك — أقل لا أكثر، وما ينزل تحت حدّ ساما أبداً.</a:t>
              </a:r>
              <a:endParaRPr sz="900">
                <a:solidFill>
                  <a:srgbClr val="C36B4E"/>
                </a:solidFill>
                <a:latin typeface="IBM Plex Sans Arabic"/>
                <a:ea typeface="IBM Plex Sans Arabic"/>
                <a:cs typeface="IBM Plex Sans Arabic"/>
                <a:sym typeface="IBM Plex Sans Arabic"/>
              </a:endParaRPr>
            </a:p>
          </p:txBody>
        </p:sp>
        <p:pic>
          <p:nvPicPr>
            <p:cNvPr id="235" name="Google Shape;235;p25" title="books.png"/>
            <p:cNvPicPr preferRelativeResize="0"/>
            <p:nvPr/>
          </p:nvPicPr>
          <p:blipFill>
            <a:blip r:embed="rId5">
              <a:alphaModFix/>
            </a:blip>
            <a:stretch>
              <a:fillRect/>
            </a:stretch>
          </p:blipFill>
          <p:spPr>
            <a:xfrm>
              <a:off x="7017745" y="1831477"/>
              <a:ext cx="1242306" cy="1242306"/>
            </a:xfrm>
            <a:prstGeom prst="rect">
              <a:avLst/>
            </a:prstGeom>
            <a:noFill/>
            <a:ln>
              <a:noFill/>
            </a:ln>
          </p:spPr>
        </p:pic>
      </p:grpSp>
      <p:grpSp>
        <p:nvGrpSpPr>
          <p:cNvPr id="236" name="Google Shape;236;p25"/>
          <p:cNvGrpSpPr/>
          <p:nvPr/>
        </p:nvGrpSpPr>
        <p:grpSpPr>
          <a:xfrm>
            <a:off x="5149675" y="3461552"/>
            <a:ext cx="3168876" cy="1242306"/>
            <a:chOff x="3215175" y="3491077"/>
            <a:chExt cx="3168876" cy="1242306"/>
          </a:xfrm>
        </p:grpSpPr>
        <p:sp>
          <p:nvSpPr>
            <p:cNvPr id="237" name="Google Shape;237;p25"/>
            <p:cNvSpPr txBox="1"/>
            <p:nvPr/>
          </p:nvSpPr>
          <p:spPr>
            <a:xfrm>
              <a:off x="900000" y="3420000"/>
              <a:ext cx="6100000" cy="1520000"/>
            </a:xfrm>
            <a:prstGeom prst="rect">
              <a:avLst/>
            </a:prstGeom>
            <a:noFill/>
            <a:ln>
              <a:noFill/>
            </a:ln>
          </p:spPr>
          <p:txBody>
            <a:bodyPr anchorCtr="0" anchor="t" bIns="91425" lIns="91425" spcFirstLastPara="1" rIns="91425" wrap="square" tIns="91425">
              <a:spAutoFit/>
            </a:bodyPr>
            <a:lstStyle/>
            <a:p>
              <a:pPr indent="0" lvl="0" marL="0" rtl="1" algn="just">
                <a:lnSpc>
                  <a:spcPct val="115000"/>
                </a:lnSpc>
                <a:spcBef>
                  <a:spcPts val="1200"/>
                </a:spcBef>
                <a:spcAft>
                  <a:spcPts val="1200"/>
                </a:spcAft>
                <a:buNone/>
              </a:pPr>
              <a:r>
                <a:rPr lang="en" sz="1600">
                  <a:solidFill>
                    <a:srgbClr val="8980BC"/>
                  </a:solidFill>
                  <a:latin typeface="IBM Plex Sans Arabic Medium"/>
                  <a:ea typeface="IBM Plex Sans Arabic Medium"/>
                  <a:cs typeface="IBM Plex Sans Arabic Medium"/>
                  <a:sym typeface="IBM Plex Sans Arabic Medium"/>
                </a:rPr>
                <a:t>العرض المستقبلي:</a:t>
              </a:r>
              <a:br>
                <a:rPr b="1" lang="en">
                  <a:solidFill>
                    <a:schemeClr val="lt1"/>
                  </a:solidFill>
                </a:rPr>
              </a:br>
              <a:r>
                <a:rPr lang="en" sz="900">
                  <a:solidFill>
                    <a:srgbClr val="C36B4E"/>
                  </a:solidFill>
                  <a:latin typeface="IBM Plex Sans Arabic"/>
                  <a:ea typeface="IBM Plex Sans Arabic"/>
                  <a:cs typeface="IBM Plex Sans Arabic"/>
                  <a:sym typeface="IBM Plex Sans Arabic"/>
                </a:rPr>
                <a:t>أول 30 يوماً — نربط قناة واحدة بصلاحية قراءة فقط، ونطلق سبب القرار على فئة قرارات واحدة، ونقيس تطابق تفسيرنا مع سبب نظام الحماية قبل أن يصل حرفٌ للعميل. ثم 60 يوماً: معايرة الأوزان على بيانات احتيال حقيقية. ثم 90: تقليل خطوات التحقّق فوق حدّ ساما — وهو الشيء الوحيد الذي يحتاج صلاحية كتابة.</a:t>
              </a:r>
              <a:endParaRPr sz="800">
                <a:solidFill>
                  <a:srgbClr val="C36B4E"/>
                </a:solidFill>
                <a:latin typeface="IBM Plex Sans Arabic"/>
                <a:ea typeface="IBM Plex Sans Arabic"/>
                <a:cs typeface="IBM Plex Sans Arabic"/>
                <a:sym typeface="IBM Plex Sans Arabic"/>
              </a:endParaRPr>
            </a:p>
          </p:txBody>
        </p:sp>
        <p:pic>
          <p:nvPicPr>
            <p:cNvPr id="238" name="Google Shape;238;p25" title="books.png"/>
            <p:cNvPicPr preferRelativeResize="0"/>
            <p:nvPr/>
          </p:nvPicPr>
          <p:blipFill>
            <a:blip r:embed="rId5">
              <a:alphaModFix/>
            </a:blip>
            <a:stretch>
              <a:fillRect/>
            </a:stretch>
          </p:blipFill>
          <p:spPr>
            <a:xfrm>
              <a:off x="5141745" y="3491077"/>
              <a:ext cx="1242306" cy="1242306"/>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2" name="Shape 242"/>
        <p:cNvGrpSpPr/>
        <p:nvPr/>
      </p:nvGrpSpPr>
      <p:grpSpPr>
        <a:xfrm>
          <a:off x="0" y="0"/>
          <a:ext cx="0" cy="0"/>
          <a:chOff x="0" y="0"/>
          <a:chExt cx="0" cy="0"/>
        </a:xfrm>
      </p:grpSpPr>
      <p:sp>
        <p:nvSpPr>
          <p:cNvPr id="243" name="Google Shape;243;p26"/>
          <p:cNvSpPr txBox="1"/>
          <p:nvPr/>
        </p:nvSpPr>
        <p:spPr>
          <a:xfrm>
            <a:off x="2349750" y="2383675"/>
            <a:ext cx="4837800" cy="2600000"/>
          </a:xfrm>
          <a:prstGeom prst="rect">
            <a:avLst/>
          </a:prstGeom>
          <a:noFill/>
          <a:ln>
            <a:noFill/>
          </a:ln>
        </p:spPr>
        <p:txBody>
          <a:bodyPr anchorCtr="0" anchor="ctr" bIns="91425" lIns="91425" spcFirstLastPara="1" rIns="91425" wrap="square" tIns="91425">
            <a:noAutofit/>
          </a:bodyPr>
          <a:lstStyle/>
          <a:p>
            <a:pPr indent="0" lvl="0" marL="0" rtl="1" algn="ctr">
              <a:lnSpc>
                <a:spcPct val="115000"/>
              </a:lnSpc>
              <a:spcBef>
                <a:spcPts val="1200"/>
              </a:spcBef>
              <a:spcAft>
                <a:spcPts val="1200"/>
              </a:spcAft>
              <a:buNone/>
            </a:pPr>
            <a:r>
              <a:rPr b="1" lang="en" sz="5200">
                <a:solidFill>
                  <a:srgbClr val="F6E7DC"/>
                </a:solidFill>
                <a:latin typeface="IBM Plex Sans Arabic"/>
                <a:ea typeface="IBM Plex Sans Arabic"/>
                <a:cs typeface="IBM Plex Sans Arabic"/>
                <a:sym typeface="IBM Plex Sans Arabic"/>
              </a:rPr>
              <a:t>شكراً</a:t>
            </a:r>
            <a:endParaRPr b="1" sz="5200">
              <a:solidFill>
                <a:srgbClr val="F6E7DC"/>
              </a:solidFill>
              <a:latin typeface="IBM Plex Sans Arabic"/>
              <a:ea typeface="IBM Plex Sans Arabic"/>
              <a:cs typeface="IBM Plex Sans Arabic"/>
              <a:sym typeface="IBM Plex Sans Arabic"/>
            </a:endParaRPr>
          </a:p>
          <a:p>
            <a:pPr indent="0" lvl="0" marL="0" rtl="1" algn="ctr">
              <a:lnSpc>
                <a:spcPct val="115000"/>
              </a:lnSpc>
              <a:spcBef>
                <a:spcPts val="1200"/>
              </a:spcBef>
              <a:spcAft>
                <a:spcPts val="1200"/>
              </a:spcAft>
              <a:buNone/>
            </a:pPr>
            <a:r>
              <a:rPr b="0" lang="en" sz="1900">
                <a:solidFill>
                  <a:srgbClr val="F0A28C"/>
                </a:solidFill>
                <a:latin typeface="IBM Plex Sans Arabic"/>
                <a:ea typeface="IBM Plex Sans Arabic"/>
                <a:cs typeface="IBM Plex Sans Arabic"/>
                <a:sym typeface="IBM Plex Sans Arabic"/>
              </a:rPr>
              <a:t>من حقّ كل عميل أن يعرف لماذا اتُّخذ هذا القرار ضده — وما خطوته التالية.</a:t>
            </a:r>
            <a:endParaRPr b="0" sz="1900">
              <a:solidFill>
                <a:srgbClr val="F0A28C"/>
              </a:solidFill>
              <a:latin typeface="IBM Plex Sans Arabic"/>
              <a:ea typeface="IBM Plex Sans Arabic"/>
              <a:cs typeface="IBM Plex Sans Arabic"/>
              <a:sym typeface="IBM Plex Sans Arabic"/>
            </a:endParaRPr>
          </a:p>
        </p:txBody>
      </p:sp>
      <p:pic>
        <p:nvPicPr>
          <p:cNvPr id="244" name="Google Shape;244;p26"/>
          <p:cNvPicPr preferRelativeResize="0"/>
          <p:nvPr/>
        </p:nvPicPr>
        <p:blipFill>
          <a:blip r:embed="rId4">
            <a:alphaModFix/>
          </a:blip>
          <a:stretch>
            <a:fillRect/>
          </a:stretch>
        </p:blipFill>
        <p:spPr>
          <a:xfrm>
            <a:off x="3799938" y="880796"/>
            <a:ext cx="1937425" cy="1185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